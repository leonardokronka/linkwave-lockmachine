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b533636-0888-82d1-662a-5d586b4ca543}">
          <p14:sldIdLst>
            <p14:sldId id="256"/>
          </p14:sldIdLst>
        </p14:section>
        <p14:section name="O projeto" id="{478a9251-3a13-7561-db56-cb99b99f0562}">
          <p14:sldIdLst>
            <p14:sldId id="257"/>
            <p14:sldId id="258"/>
            <p14:sldId id="259"/>
            <p14:sldId id="260"/>
          </p14:sldIdLst>
        </p14:section>
        <p14:section name="Como fizemos" id="{96628578-8eb5-6051-4e1e-75106af83c93}">
          <p14:sldIdLst>
            <p14:sldId id="261"/>
            <p14:sldId id="262"/>
          </p14:sldIdLst>
        </p14:section>
        <p14:section name="Andamento" id="{833b642b-88e0-ba97-6de3-0338edb818dc}">
          <p14:sldIdLst>
            <p14:sldId id="263"/>
            <p14:sldId id="264"/>
            <p14:sldId id="265"/>
          </p14:sldIdLst>
        </p14:section>
        <p14:section name="Demonstração" id="{32ed6fba-2e67-4adb-adca-69e2ff657f1a}">
          <p14:sldIdLst>
            <p14:sldId id="266"/>
          </p14:sldIdLst>
        </p14:section>
        <p14:section name="Encerramento" id="{38d49502-c89a-4ef0-0ac1-be153e51520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Leonardo. Tempo: 30 s.
- Somos a LinkWave, Turma B. Cada um diz o nome e a sua frente.
- Nosso TCC é o LockMachine: só libera a máquina para quem tem as capacitações em dia.
- Primeiro um resumo rápido nos slides; depois mostramos o site e o app funcionando.
- É um MVP em desenvolvimento.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Leonardo. Tempo: 50 s.
- Em uma frase: o cartão só diz quem é a pessoa; quem decide é o sistema.
- O operador aproxima o crachá, o sistema confere cadastro, máquina e validade dos treinamentos, e libera ou bloqueia.
- Toda tentativa fica no histórico, com o motivo.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50 s.
- Para liberar alguém numa máquina, as informações ficam espalhadas: planilha, gaveta, certificado em papel, anotação à mão. E o resultado não fica registrado.
- Por que fazer: segurança (a NR-12 exige operador capacitado), rastreabilidade (tudo registrado) e padronização (a mesma regra para todos).
- Deixe claro: é apoio administrativo, não substitui NR-12 nem proteções físicas.
- Se perguntarem: esse cenário ainda vai ser confirmado com entrevistas (o roteiro está pronto).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Evelyn. Tempo: 40 s.
- Objetivo geral: um protótipo que libera ou bloqueia o acesso conferindo as capacitações e registra cada tentativa.
- Os específicos já mostram o andamento: banco e regra prontos; o app está pronto na web e falta gerar o APK; a leitora tem o programa escrito e falta montar; os testes formais são a próxima etapa.
- ANTES DE SEXTA: confiram se o objetivo geral está igual ao do documento do TCC.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Evelyn. Tempo: 40 s.
- Três perfis: o administrador (quem libera e cadastra), o funcionário (quem opera) e a leitora RFID na máquina.
- Levantamos 12 requisitos funcionais e 7 não funcionais, cada um com um critério de aceitação para conferir no teste.
- Essenciais: login por perfil, capacitações com validade, liberação pelo cartão e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Cauê. Tempo: 50 s.
- Trabalhamos com Scrum adaptado: o Leonardo é o PO, eu sou o Scrum Master, e cada um tem uma frente, mas todos conhecem o projeto inteiro.
- Entregas pequenas, revisadas pela equipe, com o código no GitHub.
- Tecnologias: site e app em HTML, CSS e JavaScript; servidor em PHP; banco MySQL; leitora com ESP32 e RFID.
- Escolhemos assim porque tudo roda na hospedagem da escola (cPanel). (Se usaram Trello ou outro quadro, citem aqui.)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50 s.
- Siga as setas: o cartão é lido pela leitora da máquina, que pergunta ao servidor.
- O servidor confere a regra no banco e responde: libera ou bloqueia. A leitora não decide nada.
- O app, do administrador e do funcionário, usa o mesmo servidor.
- Regra de ouro: na dúvida, bloqueia. Se cair a rede ou o servidor, a máquina não libera.
- Tudo fica registrado no banco, com o motivo. Na demonstração mostramos isso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Cauê. Tempo: 40 s.
- De 9 módulos, 6 estão prontos e funcionando juntos: site, simulador, banco, servidor e os dois apps.
- Em preparação: o APK (depende de publicar o site) e a leitora (o programa está escrito, falta montar).
- Testes: testamos durante o desenvolvimento; os testes formais, com evidências, são a próxima etapa. Por isso ainda é um MVP em desenvolvimento.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40 s.
- Próximos passos, em ordem: publicar no servidor da escola (estamos fazendo agora com o professor), gerar o APK, montar a bancada da leitora, executar os testes, registrar as evidências e preparar a apresentação final.
- Limites, sem medo de falar: é apoio administrativo, não substitui NR-12 nem proteções físicas, e a leitora é de bancada, não liga numa máquina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30 s.
- O problema: capacitações conferidas no papel e sem registro. A solução: o cartão identifica, o servidor decide e tudo fica registrado.
- Aprendizado: é uma sugestão; combinem o aprendizado real da equipe e falem com as suas palavras.
- Feche com a frase: "Sem capacitação válida, sem acesso." e passe para 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PUXA: Leonardo. Neste slide, só anunciem e troquem para o navegador (10 a 12 minutos de demonstração).
Divisão sugerida da demonstração:
- Site (Gabriel): página da LinkWave e página do LockMachine; use o simulador com a Ana (liberada) e o Bruno (bloqueado, NR-12 vencida). Diga que os nomes são fictícios.
- App do administrador (Leonardo opera; Cauê explica a regra e João mostra o banco/histórico): painel, cadastro de um funcionário com capacitação, "Simular leitura" e o resultado no histórico com o motivo.
- App do funcionário (Evelyn, no celular): entrar com a matrícula, capacitações com validade e máquinas liberadas.
ANTES DE SEXTA: deixem tudo aberto e logado (no cPanel, se já estiver publicado, ou no notebook com "php -S localhost:8080"). Treinem a demonstração inteira pelo menos duas vezes.
Plano B: se a rede ou o servidor falharem, usem os prints da versão completa da apresentação (pasta completa).
Depois da demonstração, voltem para o último slide (Obrigado / Perguntas).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 agradece; todos respondem às perguntas. Tempo: 20 s.
- Agradeçam ao coordenador e aos professores Ricardo e Tom.
- As referências principais estão aqui; a lista completa está no documento do TCC.
- Perguntas: quem responde é quem cuida da frente (banco: João; servidor e regra: Cauê; telas: Evelyn; documentação e testes: Gabriel; visão geral e cronograma: Leonardo).
- Perguntas prováveis: "e se a internet cair?" (na dúvida, bloqueia); "isso substitui a NR-12?" (não, é apoio administrativo); "quando fica pronto?" (próximos passos do slide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Desktop/linkwave-lockmachine/assets/brand/linkwave-simbolo-e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63550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LockMachine · Apresentação de andamento · TCC 2026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7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3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image" Target="../media/image-11-1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AppData/Local/Temp/lockmachine/deck/slides-img/capa-pren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2103" y="0"/>
            <a:ext cx="5879592" cy="6858000"/>
          </a:xfrm>
          <a:prstGeom prst="rect">
            <a:avLst/>
          </a:prstGeom>
        </p:spPr>
      </p:pic>
      <p:pic>
        <p:nvPicPr>
          <p:cNvPr id="3" name="Image 1" descr="C:/Users/49816471825/Desktop/linkwave-lockmachine/assets/brand/lockmachine-horizontal-escu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31520"/>
            <a:ext cx="3291840" cy="48891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4630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 a máquinas por capacitação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3127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de andamento à coordenação · 30/10/2026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85800" y="3566160"/>
            <a:ext cx="2345253" cy="329184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em desenvolvimento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LINKWAVE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461772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Leonardo Kronka Rodrigues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Cauê Henrique de Oliveira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Evelyn Caporali Escanavaque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Victor Monteiro Gamero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Miranda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61188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61188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 em Desenvolvimento de Sistemas · Turma B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611880" y="5166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ORIENTAÇÃO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611880" y="5440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Ricardo Akira Harada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Wellinton Cardoso Teodoro (Tom)</a:t>
            </a:r>
            <a:endParaRPr lang="en-US" sz="1300" dirty="0"/>
          </a:p>
        </p:txBody>
      </p:sp>
      <p:pic>
        <p:nvPicPr>
          <p:cNvPr id="13" name="Image 2" descr="C:/Users/49816471825/Desktop/linkwave-lockmachine/assets/brand/linkwave-horizontal-escu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236208"/>
            <a:ext cx="1371600" cy="2633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240280" y="6236208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SENAI Mococa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projeto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cartão identifica. </a:t>
            </a:r>
            <a:pPr indent="0" marL="0">
              <a:buNone/>
            </a:pPr>
            <a:r>
              <a:rPr lang="en-US" sz="3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decide.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LockMachine só libera a máquina para quem está com as capacitações em dia, e registra cada tentativa.</a:t>
            </a:r>
            <a:endParaRPr lang="en-US" sz="1700" dirty="0"/>
          </a:p>
        </p:txBody>
      </p:sp>
      <p:pic>
        <p:nvPicPr>
          <p:cNvPr id="5" name="Image 0" descr="C:/Users/49816471825/AppData/Local/Temp/lockmachine/deck/cards/painel-yellow-383x2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2640330"/>
            <a:ext cx="4073652" cy="31775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8" name="Image 1" descr="C:/Users/49816471825/AppData/Local/Temp/lockmachine/deck/icones/rfid-FFD2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33540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64992" y="3246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3A3F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023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Aproxime o cartão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5262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operador encosta o crachá na leitora da máquina.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078224" y="4224528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pic>
        <p:nvPicPr>
          <p:cNvPr id="13" name="Image 2" descr="C:/Users/49816471825/AppData/Local/Temp/lockmachine/deck/cards/painel-cobalt-383x28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2640330"/>
            <a:ext cx="4073652" cy="31775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61772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61772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16" name="Image 3" descr="C:/Users/49816471825/AppData/Local/Temp/lockmachine/deck/icones/server-8C9B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339" y="335401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59752" y="3246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3A3F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2"/>
          <p:cNvSpPr txBox="1"/>
          <p:nvPr/>
        </p:nvSpPr>
        <p:spPr>
          <a:xfrm>
            <a:off x="4617720" y="4023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confere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4617720" y="45262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ativo, máquina disponível e treinamentos dentro da validade.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872984" y="4224528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pic>
        <p:nvPicPr>
          <p:cNvPr id="21" name="Image 4" descr="C:/Users/49816471825/AppData/Local/Temp/lockmachine/deck/cards/painel-green-383x28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410" y="2640330"/>
            <a:ext cx="4073652" cy="317754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41248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8412480" y="32004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24" name="Image 5" descr="C:/Users/49816471825/AppData/Local/Temp/lockmachine/deck/icones/db-22D07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099" y="3354019"/>
            <a:ext cx="332842" cy="33284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954512" y="3246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3A3F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18"/>
          <p:cNvSpPr txBox="1"/>
          <p:nvPr/>
        </p:nvSpPr>
        <p:spPr>
          <a:xfrm>
            <a:off x="8412480" y="4023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 ou bloqueia</a:t>
            </a:r>
            <a:endParaRPr lang="en-US" sz="2000" dirty="0"/>
          </a:p>
        </p:txBody>
      </p:sp>
      <p:sp>
        <p:nvSpPr>
          <p:cNvPr id="27" name="Text 19"/>
          <p:cNvSpPr txBox="1"/>
          <p:nvPr/>
        </p:nvSpPr>
        <p:spPr>
          <a:xfrm>
            <a:off x="8412480" y="45262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guarda no histórico quem tentou, quando e por quê.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03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e justificativa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a informação fica espalhada</a:t>
            </a:r>
            <a:endParaRPr lang="en-US" sz="2400" dirty="0"/>
          </a:p>
        </p:txBody>
      </p:sp>
      <p:pic>
        <p:nvPicPr>
          <p:cNvPr id="4" name="Image 0" descr="C:/Users/49816471825/AppData/Local/Temp/lockmachine/deck/cards/painel-cobalt-235x1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1817370"/>
            <a:ext cx="2720340" cy="17785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94560" y="2286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94560" y="2286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7" name="Image 1" descr="C:/Users/49816471825/AppData/Local/Temp/lockmachine/deck/icones/grid-8C9B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953" y="2369393"/>
            <a:ext cx="180685" cy="1806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3042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761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planilha do RH</a:t>
            </a:r>
            <a:endParaRPr lang="en-US" sz="1600" dirty="0"/>
          </a:p>
        </p:txBody>
      </p:sp>
      <p:pic>
        <p:nvPicPr>
          <p:cNvPr id="10" name="Image 2" descr="C:/Users/49816471825/AppData/Local/Temp/lockmachine/deck/cards/painel-cobalt-235x1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610" y="2018538"/>
            <a:ext cx="2720340" cy="177850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526280" y="2487168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526280" y="2487168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13" name="Image 3" descr="C:/Users/49816471825/AppData/Local/Temp/lockmachine/deck/icones/card-8C9B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673" y="2570561"/>
            <a:ext cx="180685" cy="18068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081528" y="25054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3081528" y="29626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 gaveta</a:t>
            </a:r>
            <a:endParaRPr lang="en-US" sz="1600" dirty="0"/>
          </a:p>
        </p:txBody>
      </p:sp>
      <p:pic>
        <p:nvPicPr>
          <p:cNvPr id="16" name="Image 4" descr="C:/Users/49816471825/AppData/Local/Temp/lockmachine/deck/cards/painel-steel-235x13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330" y="1817370"/>
            <a:ext cx="2720340" cy="177850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858000" y="2286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858000" y="2286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8B91A6">
              <a:alpha val="12000"/>
            </a:srgbClr>
          </a:solidFill>
          <a:ln/>
        </p:spPr>
      </p:sp>
      <p:pic>
        <p:nvPicPr>
          <p:cNvPr id="19" name="Image 5" descr="C:/Users/49816471825/AppData/Local/Temp/lockmachine/deck/icones/files-A6ACC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1393" y="2369393"/>
            <a:ext cx="180685" cy="18068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413248" y="23042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5413248" y="2761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certificado</a:t>
            </a:r>
            <a:endParaRPr lang="en-US" sz="1600" dirty="0"/>
          </a:p>
        </p:txBody>
      </p:sp>
      <p:pic>
        <p:nvPicPr>
          <p:cNvPr id="22" name="Image 6" descr="C:/Users/49816471825/AppData/Local/Temp/lockmachine/deck/cards/painel-yellow-235x13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" y="3234690"/>
            <a:ext cx="2720340" cy="177850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2194560" y="370332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2194560" y="370332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25" name="Image 7" descr="C:/Users/49816471825/AppData/Local/Temp/lockmachine/deck/icones/calendar-FFD23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953" y="3786713"/>
            <a:ext cx="180685" cy="18068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49808" y="37216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</a:t>
            </a:r>
            <a:endParaRPr lang="en-US" sz="1000" dirty="0"/>
          </a:p>
        </p:txBody>
      </p:sp>
      <p:sp>
        <p:nvSpPr>
          <p:cNvPr id="27" name="Text 17"/>
          <p:cNvSpPr txBox="1"/>
          <p:nvPr/>
        </p:nvSpPr>
        <p:spPr>
          <a:xfrm>
            <a:off x="749808" y="4178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anotada à mão</a:t>
            </a:r>
            <a:endParaRPr lang="en-US" sz="1600" dirty="0"/>
          </a:p>
        </p:txBody>
      </p:sp>
      <p:pic>
        <p:nvPicPr>
          <p:cNvPr id="28" name="Image 8" descr="C:/Users/49816471825/AppData/Local/Temp/lockmachine/deck/cards/painel-yellow-235x13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4610" y="3435858"/>
            <a:ext cx="2720340" cy="1778508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4526280" y="3904488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4526280" y="3904488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31" name="Image 9" descr="C:/Users/49816471825/AppData/Local/Temp/lockmachine/deck/icones/users-FFD23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9673" y="3987881"/>
            <a:ext cx="180685" cy="180685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3081528" y="39227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3081528" y="43799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 pedido verbal</a:t>
            </a:r>
            <a:endParaRPr lang="en-US" sz="1600" dirty="0"/>
          </a:p>
        </p:txBody>
      </p:sp>
      <p:pic>
        <p:nvPicPr>
          <p:cNvPr id="34" name="Image 10" descr="C:/Users/49816471825/AppData/Local/Temp/lockmachine/deck/cards/painel-red-235x13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6330" y="3234690"/>
            <a:ext cx="2720340" cy="1778508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6858000" y="370332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6" name="Shape 23"/>
          <p:cNvSpPr/>
          <p:nvPr/>
        </p:nvSpPr>
        <p:spPr>
          <a:xfrm>
            <a:off x="6858000" y="370332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37" name="Image 11" descr="C:/Users/49816471825/AppData/Local/Temp/lockmachine/deck/icones/x-FF7A6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1393" y="3786713"/>
            <a:ext cx="180685" cy="180685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5413248" y="37216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39" name="Text 25"/>
          <p:cNvSpPr txBox="1"/>
          <p:nvPr/>
        </p:nvSpPr>
        <p:spPr>
          <a:xfrm>
            <a:off x="5413248" y="4178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registro</a:t>
            </a:r>
            <a:endParaRPr lang="en-US" sz="1600" dirty="0"/>
          </a:p>
        </p:txBody>
      </p:sp>
      <p:sp>
        <p:nvSpPr>
          <p:cNvPr id="40" name="Text 26"/>
          <p:cNvSpPr txBox="1"/>
          <p:nvPr/>
        </p:nvSpPr>
        <p:spPr>
          <a:xfrm>
            <a:off x="548640" y="51389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tudo isso é lento, e nenhuma tentativa fica registrada.</a:t>
            </a:r>
            <a:endParaRPr lang="en-US" sz="1500" dirty="0"/>
          </a:p>
        </p:txBody>
      </p:sp>
      <p:pic>
        <p:nvPicPr>
          <p:cNvPr id="41" name="Image 12" descr="C:/Users/49816471825/AppData/Local/Temp/lockmachine/deck/cards/painel-x-418x445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32370" y="1085850"/>
            <a:ext cx="4393692" cy="464058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8092440" y="15727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fazer</a:t>
            </a:r>
            <a:endParaRPr lang="en-US" sz="2000" dirty="0"/>
          </a:p>
        </p:txBody>
      </p:sp>
      <p:sp>
        <p:nvSpPr>
          <p:cNvPr id="43" name="Shape 28"/>
          <p:cNvSpPr/>
          <p:nvPr/>
        </p:nvSpPr>
        <p:spPr>
          <a:xfrm>
            <a:off x="8092440" y="219456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44" name="Shape 29"/>
          <p:cNvSpPr/>
          <p:nvPr/>
        </p:nvSpPr>
        <p:spPr>
          <a:xfrm>
            <a:off x="8092440" y="219456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45" name="Image 13" descr="C:/Users/49816471825/AppData/Local/Temp/lockmachine/deck/icones/shield-FF7A6F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9724" y="2321844"/>
            <a:ext cx="275783" cy="275783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8778240" y="21671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NR-12 exige operador capacitado.</a:t>
            </a:r>
            <a:endParaRPr lang="en-US" sz="1400" dirty="0"/>
          </a:p>
        </p:txBody>
      </p:sp>
      <p:sp>
        <p:nvSpPr>
          <p:cNvPr id="47" name="Shape 31"/>
          <p:cNvSpPr/>
          <p:nvPr/>
        </p:nvSpPr>
        <p:spPr>
          <a:xfrm>
            <a:off x="8092440" y="3218688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48" name="Shape 32"/>
          <p:cNvSpPr/>
          <p:nvPr/>
        </p:nvSpPr>
        <p:spPr>
          <a:xfrm>
            <a:off x="8092440" y="3218688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49" name="Image 14" descr="C:/Users/49816471825/AppData/Local/Temp/lockmachine/deck/icones/history-8C9BFF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9724" y="3345972"/>
            <a:ext cx="275783" cy="275783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8778240" y="319125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tentativa fica registrada.</a:t>
            </a:r>
            <a:endParaRPr lang="en-US" sz="1400" dirty="0"/>
          </a:p>
        </p:txBody>
      </p:sp>
      <p:sp>
        <p:nvSpPr>
          <p:cNvPr id="51" name="Shape 34"/>
          <p:cNvSpPr/>
          <p:nvPr/>
        </p:nvSpPr>
        <p:spPr>
          <a:xfrm>
            <a:off x="8092440" y="4242816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52" name="Shape 35"/>
          <p:cNvSpPr/>
          <p:nvPr/>
        </p:nvSpPr>
        <p:spPr>
          <a:xfrm>
            <a:off x="8092440" y="4242816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53" name="Image 15" descr="C:/Users/49816471825/AppData/Local/Temp/lockmachine/deck/icones/check-22D07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9724" y="4370100"/>
            <a:ext cx="275783" cy="275783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778240" y="42153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regra vale para todos.</a:t>
            </a:r>
            <a:endParaRPr lang="en-US" sz="1400" dirty="0"/>
          </a:p>
        </p:txBody>
      </p:sp>
      <p:sp>
        <p:nvSpPr>
          <p:cNvPr id="55" name="Shape 37"/>
          <p:cNvSpPr/>
          <p:nvPr/>
        </p:nvSpPr>
        <p:spPr>
          <a:xfrm>
            <a:off x="506578" y="5810098"/>
            <a:ext cx="221285" cy="221285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56" name="Shape 38"/>
          <p:cNvSpPr/>
          <p:nvPr/>
        </p:nvSpPr>
        <p:spPr>
          <a:xfrm>
            <a:off x="576986" y="5880506"/>
            <a:ext cx="100584" cy="100584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57" name="Text 39"/>
          <p:cNvSpPr txBox="1"/>
          <p:nvPr/>
        </p:nvSpPr>
        <p:spPr>
          <a:xfrm>
            <a:off x="868680" y="57790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administrativo: o LockMachine não substitui a NR-12, as proteções físicas nem os intertravamentos.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3200" dirty="0"/>
          </a:p>
        </p:txBody>
      </p:sp>
      <p:pic>
        <p:nvPicPr>
          <p:cNvPr id="3" name="Image 0" descr="C:/Users/49816471825/AppData/Local/Temp/lockmachine/deck/cards/painel2-yellow-1213x1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1085850"/>
            <a:ext cx="11663172" cy="17145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8105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 protótipo que libere ou bloqueie o acesso a máquinas conferindo as capacitações de cada operador, com registro de cada tentativa.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88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 E ONDE ESTAMOS</a:t>
            </a:r>
            <a:endParaRPr lang="en-US" sz="1000" dirty="0"/>
          </a:p>
        </p:txBody>
      </p:sp>
      <p:pic>
        <p:nvPicPr>
          <p:cNvPr id="7" name="Image 1" descr="C:/Users/49816471825/AppData/Local/Temp/lockmachine/deck/cards/painel-green-229x26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2823210"/>
            <a:ext cx="2665476" cy="29946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7240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10" name="Image 2" descr="C:/Users/49816471825/AppData/Local/Temp/lockmachine/deck/icones/db-22D07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346923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7240" y="4023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77240" y="5029200"/>
            <a:ext cx="1310518" cy="29260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050" dirty="0"/>
          </a:p>
        </p:txBody>
      </p:sp>
      <p:pic>
        <p:nvPicPr>
          <p:cNvPr id="13" name="Image 3" descr="C:/Users/49816471825/AppData/Local/Temp/lockmachine/deck/cards/painel-red-229x26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314" y="2823210"/>
            <a:ext cx="2665476" cy="29946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026664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026664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16" name="Image 4" descr="C:/Users/49816471825/AppData/Local/Temp/lockmachine/deck/icones/server-FF7A6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8338" y="3469234"/>
            <a:ext cx="285293" cy="28529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026664" y="4023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acesso no servidor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3026664" y="5029200"/>
            <a:ext cx="1310518" cy="29260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050" dirty="0"/>
          </a:p>
        </p:txBody>
      </p:sp>
      <p:pic>
        <p:nvPicPr>
          <p:cNvPr id="19" name="Image 5" descr="C:/Users/49816471825/AppData/Local/Temp/lockmachine/deck/cards/painel-cobalt-229x26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1738" y="2823210"/>
            <a:ext cx="2665476" cy="29946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276088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276088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22" name="Image 6" descr="C:/Users/49816471825/AppData/Local/Temp/lockmachine/deck/icones/browser-8C9B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7762" y="3469234"/>
            <a:ext cx="285293" cy="285293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276088" y="4023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 administrador e do funcionário</a:t>
            </a:r>
            <a:endParaRPr lang="en-US" sz="1500" dirty="0"/>
          </a:p>
        </p:txBody>
      </p:sp>
      <p:sp>
        <p:nvSpPr>
          <p:cNvPr id="24" name="Text 15"/>
          <p:cNvSpPr/>
          <p:nvPr/>
        </p:nvSpPr>
        <p:spPr>
          <a:xfrm>
            <a:off x="5276088" y="5029200"/>
            <a:ext cx="1231788" cy="29260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o APK</a:t>
            </a:r>
            <a:endParaRPr lang="en-US" sz="1050" dirty="0"/>
          </a:p>
        </p:txBody>
      </p:sp>
      <p:pic>
        <p:nvPicPr>
          <p:cNvPr id="25" name="Image 7" descr="C:/Users/49816471825/AppData/Local/Temp/lockmachine/deck/cards/painel-yellow-229x26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1162" y="2823210"/>
            <a:ext cx="2665476" cy="299466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7525512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7525512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28" name="Image 8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7186" y="3469234"/>
            <a:ext cx="285293" cy="285293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525512" y="4023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 RFID na máquina</a:t>
            </a:r>
            <a:endParaRPr lang="en-US" sz="1500" dirty="0"/>
          </a:p>
        </p:txBody>
      </p:sp>
      <p:sp>
        <p:nvSpPr>
          <p:cNvPr id="30" name="Text 19"/>
          <p:cNvSpPr/>
          <p:nvPr/>
        </p:nvSpPr>
        <p:spPr>
          <a:xfrm>
            <a:off x="7525512" y="5029200"/>
            <a:ext cx="1625437" cy="29260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escrito</a:t>
            </a:r>
            <a:endParaRPr lang="en-US" sz="1050" dirty="0"/>
          </a:p>
        </p:txBody>
      </p:sp>
      <p:pic>
        <p:nvPicPr>
          <p:cNvPr id="31" name="Image 9" descr="C:/Users/49816471825/AppData/Local/Temp/lockmachine/deck/cards/painel-steel-229x26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0586" y="2823210"/>
            <a:ext cx="2665476" cy="2994660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9774936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3" name="Shape 21"/>
          <p:cNvSpPr/>
          <p:nvPr/>
        </p:nvSpPr>
        <p:spPr>
          <a:xfrm>
            <a:off x="9774936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8B91A6">
              <a:alpha val="12000"/>
            </a:srgbClr>
          </a:solidFill>
          <a:ln/>
        </p:spPr>
      </p:sp>
      <p:pic>
        <p:nvPicPr>
          <p:cNvPr id="34" name="Image 10" descr="C:/Users/49816471825/AppData/Local/Temp/lockmachine/deck/icones/files-A6ACC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610" y="3469234"/>
            <a:ext cx="285293" cy="285293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9774936" y="4023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e evidências</a:t>
            </a:r>
            <a:endParaRPr lang="en-US" sz="1500" dirty="0"/>
          </a:p>
        </p:txBody>
      </p:sp>
      <p:sp>
        <p:nvSpPr>
          <p:cNvPr id="36" name="Text 23"/>
          <p:cNvSpPr/>
          <p:nvPr/>
        </p:nvSpPr>
        <p:spPr>
          <a:xfrm>
            <a:off x="9774936" y="5029200"/>
            <a:ext cx="995599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Público-alvo e requisitos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perfis usam a solução.</a:t>
            </a:r>
            <a:endParaRPr lang="en-US" sz="1700" dirty="0"/>
          </a:p>
        </p:txBody>
      </p:sp>
      <p:pic>
        <p:nvPicPr>
          <p:cNvPr id="4" name="Image 0" descr="C:/Users/49816471825/AppData/Local/Temp/lockmachine/deck/cards/painel-cobalt-383x2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1634490"/>
            <a:ext cx="4073652" cy="29489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7" name="Image 1" descr="C:/Users/49816471825/AppData/Local/Temp/lockmachine/deck/icones/users-8C9B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23" y="2312335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libera as máquinas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 pessoas, máquinas e treinamentos e acompanha tudo pelo painel.</a:t>
            </a:r>
            <a:endParaRPr lang="en-US" sz="1500" dirty="0"/>
          </a:p>
        </p:txBody>
      </p:sp>
      <p:pic>
        <p:nvPicPr>
          <p:cNvPr id="10" name="Image 2" descr="C:/Users/49816471825/AppData/Local/Temp/lockmachine/deck/cards/painel-green-383x2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1634490"/>
            <a:ext cx="4073652" cy="29489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1772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61772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13" name="Image 3" descr="C:/Users/49816471825/AppData/Local/Temp/lockmachine/deck/icones/user-22D07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83" y="2312335"/>
            <a:ext cx="294803" cy="29480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349240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Funcionário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opera a máquina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461772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as próprias capacitações e onde está liberado.</a:t>
            </a:r>
            <a:endParaRPr lang="en-US" sz="1500" dirty="0"/>
          </a:p>
        </p:txBody>
      </p:sp>
      <p:pic>
        <p:nvPicPr>
          <p:cNvPr id="16" name="Image 4" descr="C:/Users/49816471825/AppData/Local/Temp/lockmachine/deck/cards/painel-yellow-383x26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410" y="1634490"/>
            <a:ext cx="4073652" cy="294894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41248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8412480" y="21762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19" name="Image 5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543" y="2312335"/>
            <a:ext cx="294803" cy="29480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144000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 RFID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instalada na máquina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841248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 cartão e mostra se libera ou bloqueia.</a:t>
            </a:r>
            <a:endParaRPr lang="en-US" sz="1500" dirty="0"/>
          </a:p>
        </p:txBody>
      </p:sp>
      <p:pic>
        <p:nvPicPr>
          <p:cNvPr id="22" name="Image 6" descr="C:/Users/49816471825/AppData/Local/Temp/lockmachine/deck/cards/painel2-x-1213x15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" y="4240530"/>
            <a:ext cx="11663172" cy="19431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22960" y="452628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600" dirty="0"/>
          </a:p>
        </p:txBody>
      </p:sp>
      <p:sp>
        <p:nvSpPr>
          <p:cNvPr id="24" name="Text 15"/>
          <p:cNvSpPr txBox="1"/>
          <p:nvPr/>
        </p:nvSpPr>
        <p:spPr>
          <a:xfrm>
            <a:off x="1783080" y="4526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funcionais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4526280" y="452628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C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6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0" y="4526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não funcionais</a:t>
            </a:r>
            <a:endParaRPr lang="en-US" sz="1600" dirty="0"/>
          </a:p>
        </p:txBody>
      </p:sp>
      <p:sp>
        <p:nvSpPr>
          <p:cNvPr id="27" name="Shape 18"/>
          <p:cNvSpPr/>
          <p:nvPr/>
        </p:nvSpPr>
        <p:spPr>
          <a:xfrm>
            <a:off x="8229600" y="495604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8229600" y="495604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29" name="Image 7" descr="C:/Users/49816471825/AppData/Local/Temp/lockmachine/deck/icones/check-22D07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0301" y="5076749"/>
            <a:ext cx="261518" cy="26151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869680" y="45262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com critério de aceitação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07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e tecnologias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adaptado à escola: entregas pequenas, revisadas pela equipe, com o código versionado no GitHub.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</a:t>
            </a:r>
            <a:endParaRPr lang="en-US" sz="1000" dirty="0"/>
          </a:p>
        </p:txBody>
      </p:sp>
      <p:pic>
        <p:nvPicPr>
          <p:cNvPr id="5" name="Image 0" descr="C:/Users/49816471825/AppData/Local/Temp/lockmachine/deck/cards/painel-cobalt-229x1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2000250"/>
            <a:ext cx="2665476" cy="19888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468880"/>
            <a:ext cx="512064" cy="512064"/>
          </a:xfrm>
          <a:prstGeom prst="ellipse">
            <a:avLst/>
          </a:prstGeom>
          <a:solidFill>
            <a:srgbClr val="2F45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Leonardo Kronka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· Full-stack</a:t>
            </a:r>
            <a:endParaRPr lang="en-US" sz="1100" dirty="0"/>
          </a:p>
        </p:txBody>
      </p:sp>
      <p:pic>
        <p:nvPicPr>
          <p:cNvPr id="9" name="Image 1" descr="C:/Users/49816471825/AppData/Local/Temp/lockmachine/deck/cards/painel-red-229x15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314" y="2000250"/>
            <a:ext cx="2665476" cy="19888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99232" y="2468880"/>
            <a:ext cx="512064" cy="512064"/>
          </a:xfrm>
          <a:prstGeom prst="ellipse">
            <a:avLst/>
          </a:prstGeom>
          <a:solidFill>
            <a:srgbClr val="FF3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999232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Cauê Henrique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999232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· Back-end</a:t>
            </a:r>
            <a:endParaRPr lang="en-US" sz="1100" dirty="0"/>
          </a:p>
        </p:txBody>
      </p:sp>
      <p:pic>
        <p:nvPicPr>
          <p:cNvPr id="13" name="Image 2" descr="C:/Users/49816471825/AppData/Local/Temp/lockmachine/deck/cards/painel-green-229x15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738" y="2000250"/>
            <a:ext cx="2665476" cy="19888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48656" y="2468880"/>
            <a:ext cx="512064" cy="512064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248656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Evelyn Caporali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248656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100" dirty="0"/>
          </a:p>
        </p:txBody>
      </p:sp>
      <p:pic>
        <p:nvPicPr>
          <p:cNvPr id="17" name="Image 3" descr="C:/Users/49816471825/AppData/Local/Temp/lockmachine/deck/cards/painel-x-229x15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162" y="2000250"/>
            <a:ext cx="2665476" cy="19888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0" y="2468880"/>
            <a:ext cx="512064" cy="512064"/>
          </a:xfrm>
          <a:prstGeom prst="ellipse">
            <a:avLst/>
          </a:prstGeom>
          <a:solidFill>
            <a:srgbClr val="1C212D"/>
          </a:solidFill>
          <a:ln w="9525">
            <a:solidFill>
              <a:srgbClr val="3A3F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4980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Victor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74980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1100" dirty="0"/>
          </a:p>
        </p:txBody>
      </p:sp>
      <p:pic>
        <p:nvPicPr>
          <p:cNvPr id="21" name="Image 4" descr="C:/Users/49816471825/AppData/Local/Temp/lockmachine/deck/cards/painel-yellow-229x15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0586" y="2000250"/>
            <a:ext cx="2665476" cy="19888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747504" y="2468880"/>
            <a:ext cx="512064" cy="512064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9747504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Miranda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9747504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</a:t>
            </a:r>
            <a:endParaRPr lang="en-US" sz="1000" dirty="0"/>
          </a:p>
        </p:txBody>
      </p:sp>
      <p:pic>
        <p:nvPicPr>
          <p:cNvPr id="26" name="Image 5" descr="C:/Users/49816471825/AppData/Local/Temp/lockmachine/deck/cards/painel-cobalt-229x1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" y="4011930"/>
            <a:ext cx="2665476" cy="15773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49808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49808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29" name="Image 6" descr="C:/Users/49816471825/AppData/Local/Temp/lockmachine/deck/icones/browser-8C9B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703" y="4667463"/>
            <a:ext cx="266273" cy="266273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389888" y="4297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 app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e JS</a:t>
            </a:r>
            <a:endParaRPr lang="en-US" sz="1400" dirty="0"/>
          </a:p>
        </p:txBody>
      </p:sp>
      <p:pic>
        <p:nvPicPr>
          <p:cNvPr id="31" name="Image 7" descr="C:/Users/49816471825/AppData/Local/Temp/lockmachine/deck/cards/painel-red-229x11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2314" y="4011930"/>
            <a:ext cx="2665476" cy="157734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2999232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2999232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34" name="Image 8" descr="C:/Users/49816471825/AppData/Local/Temp/lockmachine/deck/icones/server-FF7A6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2127" y="4667463"/>
            <a:ext cx="266273" cy="266273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3639312" y="4297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endParaRPr lang="en-US" sz="1400" dirty="0"/>
          </a:p>
        </p:txBody>
      </p:sp>
      <p:pic>
        <p:nvPicPr>
          <p:cNvPr id="36" name="Image 9" descr="C:/Users/49816471825/AppData/Local/Temp/lockmachine/deck/cards/painel-green-229x11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1738" y="4011930"/>
            <a:ext cx="2665476" cy="157734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5248656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5248656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39" name="Image 10" descr="C:/Users/49816471825/AppData/Local/Temp/lockmachine/deck/icones/db-22D07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1551" y="4667463"/>
            <a:ext cx="266273" cy="266273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888736" y="4297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400" dirty="0"/>
          </a:p>
        </p:txBody>
      </p:sp>
      <p:pic>
        <p:nvPicPr>
          <p:cNvPr id="41" name="Image 11" descr="C:/Users/49816471825/AppData/Local/Temp/lockmachine/deck/cards/painel-yellow-229x11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1162" y="4011930"/>
            <a:ext cx="2665476" cy="1577340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7498080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43" name="Shape 29"/>
          <p:cNvSpPr/>
          <p:nvPr/>
        </p:nvSpPr>
        <p:spPr>
          <a:xfrm>
            <a:off x="7498080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44" name="Image 12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975" y="4667463"/>
            <a:ext cx="266273" cy="266273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8138160" y="4297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+ RFID</a:t>
            </a:r>
            <a:endParaRPr lang="en-US" sz="1400" dirty="0"/>
          </a:p>
        </p:txBody>
      </p:sp>
      <p:pic>
        <p:nvPicPr>
          <p:cNvPr id="46" name="Image 13" descr="C:/Users/49816471825/AppData/Local/Temp/lockmachine/deck/cards/painel-steel-229x11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60586" y="4011930"/>
            <a:ext cx="2665476" cy="1577340"/>
          </a:xfrm>
          <a:prstGeom prst="rect">
            <a:avLst/>
          </a:prstGeom>
        </p:spPr>
      </p:pic>
      <p:sp>
        <p:nvSpPr>
          <p:cNvPr id="47" name="Shape 31"/>
          <p:cNvSpPr/>
          <p:nvPr/>
        </p:nvSpPr>
        <p:spPr>
          <a:xfrm>
            <a:off x="9747504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48" name="Shape 32"/>
          <p:cNvSpPr/>
          <p:nvPr/>
        </p:nvSpPr>
        <p:spPr>
          <a:xfrm>
            <a:off x="9747504" y="45445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8B91A6">
              <a:alpha val="12000"/>
            </a:srgbClr>
          </a:solidFill>
          <a:ln/>
        </p:spPr>
      </p:sp>
      <p:pic>
        <p:nvPicPr>
          <p:cNvPr id="49" name="Image 14" descr="C:/Users/49816471825/AppData/Local/Temp/lockmachine/deck/icones/files-A6ACC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70399" y="4667463"/>
            <a:ext cx="266273" cy="266273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10387584" y="4297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Versões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09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solução funciona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cartão só identifica. Quem decide é o servidor.</a:t>
            </a:r>
            <a:endParaRPr lang="en-US" sz="1700" dirty="0"/>
          </a:p>
        </p:txBody>
      </p:sp>
      <p:pic>
        <p:nvPicPr>
          <p:cNvPr id="4" name="Image 0" descr="C:/Users/49816471825/AppData/Local/Temp/lockmachine/deck/cards/painel-cobalt-340x1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1680210"/>
            <a:ext cx="3680460" cy="19888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7" name="Image 1" descr="C:/Users/49816471825/AppData/Local/Temp/lockmachine/deck/icones/browser-8C9B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67" y="2344887"/>
            <a:ext cx="266273" cy="26627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22219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04672" y="2880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e funcionário</a:t>
            </a:r>
            <a:endParaRPr lang="en-US" sz="1400" dirty="0"/>
          </a:p>
        </p:txBody>
      </p:sp>
      <p:pic>
        <p:nvPicPr>
          <p:cNvPr id="10" name="Image 2" descr="C:/Users/49816471825/AppData/Local/Temp/lockmachine/deck/cards/painel-red-340x15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246" y="1680210"/>
            <a:ext cx="3680460" cy="19888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796028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796028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13" name="Image 3" descr="C:/Users/49816471825/AppData/Local/Temp/lockmachine/deck/icones/server-FF7A6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923" y="2344887"/>
            <a:ext cx="266273" cy="26627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54396" y="22219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900" dirty="0"/>
          </a:p>
        </p:txBody>
      </p:sp>
      <p:sp>
        <p:nvSpPr>
          <p:cNvPr id="15" name="Text 9"/>
          <p:cNvSpPr txBox="1"/>
          <p:nvPr/>
        </p:nvSpPr>
        <p:spPr>
          <a:xfrm>
            <a:off x="4796028" y="2880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a regra de acesso</a:t>
            </a:r>
            <a:endParaRPr lang="en-US" sz="1400" dirty="0"/>
          </a:p>
        </p:txBody>
      </p:sp>
      <p:pic>
        <p:nvPicPr>
          <p:cNvPr id="16" name="Image 4" descr="C:/Users/49816471825/AppData/Local/Temp/lockmachine/deck/cards/painel-green-340x15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5602" y="1680210"/>
            <a:ext cx="3680460" cy="198882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787384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8787384" y="222199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19" name="Image 5" descr="C:/Users/49816471825/AppData/Local/Temp/lockmachine/deck/icones/db-22D07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0279" y="2344887"/>
            <a:ext cx="266273" cy="26627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445752" y="22219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</a:t>
            </a:r>
            <a:endParaRPr lang="en-US" sz="1900" dirty="0"/>
          </a:p>
        </p:txBody>
      </p:sp>
      <p:sp>
        <p:nvSpPr>
          <p:cNvPr id="21" name="Text 13"/>
          <p:cNvSpPr txBox="1"/>
          <p:nvPr/>
        </p:nvSpPr>
        <p:spPr>
          <a:xfrm>
            <a:off x="8787384" y="2880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cadastros e histórico</a:t>
            </a:r>
            <a:endParaRPr lang="en-US" sz="1400" dirty="0"/>
          </a:p>
        </p:txBody>
      </p:sp>
      <p:pic>
        <p:nvPicPr>
          <p:cNvPr id="22" name="Image 6" descr="C:/Users/49816471825/AppData/Local/Temp/lockmachine/deck/cards/painel-yellow-340x15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246" y="3829050"/>
            <a:ext cx="3680460" cy="198882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4796028" y="437083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4796028" y="437083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25" name="Image 7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8923" y="4493727"/>
            <a:ext cx="266273" cy="266273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5454396" y="43708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</a:t>
            </a:r>
            <a:endParaRPr lang="en-US" sz="1900" dirty="0"/>
          </a:p>
        </p:txBody>
      </p:sp>
      <p:sp>
        <p:nvSpPr>
          <p:cNvPr id="27" name="Text 17"/>
          <p:cNvSpPr txBox="1"/>
          <p:nvPr/>
        </p:nvSpPr>
        <p:spPr>
          <a:xfrm>
            <a:off x="4796028" y="5029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instalada na máquina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3657600" y="2674620"/>
            <a:ext cx="882396" cy="0"/>
          </a:xfrm>
          <a:prstGeom prst="line">
            <a:avLst/>
          </a:prstGeom>
          <a:noFill/>
          <a:ln w="114300">
            <a:solidFill>
              <a:srgbClr val="FFD23F">
                <a:alpha val="1400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3657600" y="2674620"/>
            <a:ext cx="882396" cy="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3961638" y="2537460"/>
            <a:ext cx="274320" cy="274320"/>
          </a:xfrm>
          <a:prstGeom prst="ellipse">
            <a:avLst/>
          </a:prstGeom>
          <a:solidFill>
            <a:srgbClr val="FFD23F">
              <a:alpha val="28000"/>
            </a:srgbClr>
          </a:solidFill>
          <a:ln/>
        </p:spPr>
      </p:sp>
      <p:sp>
        <p:nvSpPr>
          <p:cNvPr id="31" name="Shape 21"/>
          <p:cNvSpPr/>
          <p:nvPr/>
        </p:nvSpPr>
        <p:spPr>
          <a:xfrm>
            <a:off x="4043934" y="261975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22"/>
          <p:cNvSpPr/>
          <p:nvPr/>
        </p:nvSpPr>
        <p:spPr>
          <a:xfrm>
            <a:off x="7648956" y="2674620"/>
            <a:ext cx="882396" cy="0"/>
          </a:xfrm>
          <a:prstGeom prst="line">
            <a:avLst/>
          </a:prstGeom>
          <a:noFill/>
          <a:ln w="114300">
            <a:solidFill>
              <a:srgbClr val="FFD23F">
                <a:alpha val="14000"/>
              </a:srgbClr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7648956" y="2674620"/>
            <a:ext cx="882396" cy="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7952994" y="2537460"/>
            <a:ext cx="274320" cy="274320"/>
          </a:xfrm>
          <a:prstGeom prst="ellipse">
            <a:avLst/>
          </a:prstGeom>
          <a:solidFill>
            <a:srgbClr val="FFD23F">
              <a:alpha val="28000"/>
            </a:srgbClr>
          </a:solidFill>
          <a:ln/>
        </p:spPr>
      </p:sp>
      <p:sp>
        <p:nvSpPr>
          <p:cNvPr id="35" name="Shape 25"/>
          <p:cNvSpPr/>
          <p:nvPr/>
        </p:nvSpPr>
        <p:spPr>
          <a:xfrm>
            <a:off x="8035290" y="261975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26"/>
          <p:cNvSpPr/>
          <p:nvPr/>
        </p:nvSpPr>
        <p:spPr>
          <a:xfrm>
            <a:off x="6094476" y="3383280"/>
            <a:ext cx="0" cy="731520"/>
          </a:xfrm>
          <a:prstGeom prst="line">
            <a:avLst/>
          </a:prstGeom>
          <a:noFill/>
          <a:ln w="114300">
            <a:solidFill>
              <a:srgbClr val="FFD23F">
                <a:alpha val="14000"/>
              </a:srgbClr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094476" y="3383280"/>
            <a:ext cx="0" cy="73152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5957316" y="3611880"/>
            <a:ext cx="274320" cy="274320"/>
          </a:xfrm>
          <a:prstGeom prst="ellipse">
            <a:avLst/>
          </a:prstGeom>
          <a:solidFill>
            <a:srgbClr val="FFD23F">
              <a:alpha val="28000"/>
            </a:srgbClr>
          </a:solidFill>
          <a:ln/>
        </p:spPr>
      </p:sp>
      <p:sp>
        <p:nvSpPr>
          <p:cNvPr id="39" name="Shape 29"/>
          <p:cNvSpPr/>
          <p:nvPr/>
        </p:nvSpPr>
        <p:spPr>
          <a:xfrm>
            <a:off x="6039612" y="36941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635508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pergunta: cartão + máquina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resposta: libera ou bloqueia</a:t>
            </a:r>
            <a:endParaRPr lang="en-US" sz="1100" dirty="0"/>
          </a:p>
        </p:txBody>
      </p:sp>
      <p:pic>
        <p:nvPicPr>
          <p:cNvPr id="41" name="Image 8" descr="C:/Users/49816471825/AppData/Local/Temp/lockmachine/deck/cards/papel-x-220x11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240000">
            <a:off x="1314450" y="4030218"/>
            <a:ext cx="2583180" cy="1595628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 rot="-240000">
            <a:off x="1600200" y="4315968"/>
            <a:ext cx="2011680" cy="1024128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RFID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operador</a:t>
            </a:r>
            <a:endParaRPr lang="en-US" sz="1400" dirty="0"/>
          </a:p>
        </p:txBody>
      </p:sp>
      <p:pic>
        <p:nvPicPr>
          <p:cNvPr id="43" name="Image 9" descr="C:/Users/49816471825/AppData/Local/Temp/lockmachine/deck/icones/waves-FFD23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0" y="4617720"/>
            <a:ext cx="457200" cy="457200"/>
          </a:xfrm>
          <a:prstGeom prst="rect">
            <a:avLst/>
          </a:prstGeom>
        </p:spPr>
      </p:pic>
      <p:pic>
        <p:nvPicPr>
          <p:cNvPr id="44" name="Image 10" descr="C:/Users/49816471825/AppData/Local/Temp/lockmachine/deck/cards/painel-red-340x155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5602" y="3829050"/>
            <a:ext cx="3680460" cy="1988820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8787384" y="437083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8787384" y="437083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47" name="Image 11" descr="C:/Users/49816471825/AppData/Local/Temp/lockmachine/deck/icones/lock-FF7A6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0279" y="4493727"/>
            <a:ext cx="266273" cy="266273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9445752" y="43708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dúvida, bloqueia</a:t>
            </a:r>
            <a:endParaRPr lang="en-US" sz="1600" dirty="0"/>
          </a:p>
        </p:txBody>
      </p:sp>
      <p:sp>
        <p:nvSpPr>
          <p:cNvPr id="49" name="Text 35"/>
          <p:cNvSpPr txBox="1"/>
          <p:nvPr/>
        </p:nvSpPr>
        <p:spPr>
          <a:xfrm>
            <a:off x="8787384" y="4983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resposta do servidor, a máquina não libera.</a:t>
            </a:r>
            <a:endParaRPr lang="en-US" sz="1300" dirty="0"/>
          </a:p>
        </p:txBody>
      </p:sp>
      <p:sp>
        <p:nvSpPr>
          <p:cNvPr id="50" name="Shape 36"/>
          <p:cNvSpPr/>
          <p:nvPr/>
        </p:nvSpPr>
        <p:spPr>
          <a:xfrm>
            <a:off x="548640" y="5715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>
            <a:off x="548640" y="57150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22D07B">
              <a:alpha val="12000"/>
            </a:srgbClr>
          </a:solidFill>
          <a:ln/>
        </p:spPr>
      </p:sp>
      <p:pic>
        <p:nvPicPr>
          <p:cNvPr id="52" name="Image 12" descr="C:/Users/49816471825/AppData/Local/Temp/lockmachine/deck/icones/history-22D07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033" y="5798393"/>
            <a:ext cx="180685" cy="18068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1024128" y="568756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fica registrado: liberado ou bloqueado, com o motivo.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12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e resultados</a:t>
            </a:r>
            <a:endParaRPr lang="en-US" sz="3200" dirty="0"/>
          </a:p>
        </p:txBody>
      </p:sp>
      <p:pic>
        <p:nvPicPr>
          <p:cNvPr id="3" name="Image 0" descr="C:/Users/49816471825/AppData/Local/Temp/lockmachine/deck/cards/painel2-green-360x4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1085850"/>
            <a:ext cx="3863340" cy="50977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5544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22D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indent="0" marL="0">
              <a:buNone/>
            </a:pPr>
            <a:r>
              <a:rPr lang="en-US" sz="2800" b="1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9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prontos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funcionando juntos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029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 "MVP em desenvolvimento" até os testes formais.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94683" y="1415491"/>
            <a:ext cx="241402" cy="241402"/>
          </a:xfrm>
          <a:prstGeom prst="ellipse">
            <a:avLst/>
          </a:prstGeom>
          <a:solidFill>
            <a:srgbClr val="22D07B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171493" y="1492301"/>
            <a:ext cx="109728" cy="109728"/>
          </a:xfrm>
          <a:prstGeom prst="ellipse">
            <a:avLst/>
          </a:prstGeom>
          <a:solidFill>
            <a:srgbClr val="22D07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34840" y="1371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114800" y="18288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29400" y="18288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do site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0" y="18288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0" y="2331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(API)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29400" y="2331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 administrador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0" y="2331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 funcionário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094683" y="3015691"/>
            <a:ext cx="241402" cy="241402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171493" y="3092501"/>
            <a:ext cx="109728" cy="109728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434840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preparação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114800" y="34290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APK Android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29400" y="34290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 RFID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094683" y="4112971"/>
            <a:ext cx="241402" cy="241402"/>
          </a:xfrm>
          <a:prstGeom prst="ellipse">
            <a:avLst/>
          </a:prstGeom>
          <a:solidFill>
            <a:srgbClr val="FF3D2E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171493" y="4189781"/>
            <a:ext cx="109728" cy="109728"/>
          </a:xfrm>
          <a:prstGeom prst="ellipse">
            <a:avLst/>
          </a:prstGeom>
          <a:solidFill>
            <a:srgbClr val="FF3D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434840" y="4069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etapa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114800" y="45262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formais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0" y="5257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módulos prontos foram testados durante o desenvolvimento. A execução formal dos testes, com evidências, vem a seguir.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próximos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1874520"/>
            <a:ext cx="9354312" cy="0"/>
          </a:xfrm>
          <a:prstGeom prst="line">
            <a:avLst/>
          </a:prstGeom>
          <a:noFill/>
          <a:ln w="19050">
            <a:solidFill>
              <a:srgbClr val="3A3F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457200" cy="45720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no servidor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 app no 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59582" y="1645920"/>
            <a:ext cx="457200" cy="45720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419502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o APK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419502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no Android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0445" y="1645920"/>
            <a:ext cx="457200" cy="45720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90365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a bancada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0365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 com cartões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01307" y="1645920"/>
            <a:ext cx="457200" cy="45720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61227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os testes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61227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normais e de falha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72170" y="1645920"/>
            <a:ext cx="457200" cy="45720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32090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evidências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3209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Prints e fotos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43032" y="1645920"/>
            <a:ext cx="457200" cy="45720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902952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final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902952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Banca, no fim do ano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3272" y="1298448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050" dirty="0"/>
          </a:p>
        </p:txBody>
      </p:sp>
      <p:pic>
        <p:nvPicPr>
          <p:cNvPr id="23" name="Image 0" descr="C:/Users/49816471825/AppData/Local/Temp/lockmachine/deck/cards/painel2-yellow-1213x1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3371850"/>
            <a:ext cx="11663172" cy="235458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22960" y="3858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do protótipo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82296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296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27" name="Image 1" descr="C:/Users/49816471825/AppData/Local/Temp/lockmachine/deck/icones/alert-FFD2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99" y="4540179"/>
            <a:ext cx="228234" cy="22823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389888" y="43708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apoio administrativo: não certifica que a operação é segura.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43484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43484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31" name="Image 2" descr="C:/Users/49816471825/AppData/Local/Temp/lockmachine/deck/icones/alert-FFD2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179" y="4540179"/>
            <a:ext cx="228234" cy="22823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001768" y="43708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substitui NR-12, proteções físicas nem intertravamentos.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804672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046720" y="443484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35" name="Image 3" descr="C:/Users/49816471825/AppData/Local/Temp/lockmachine/deck/icones/alert-FFD23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059" y="4540179"/>
            <a:ext cx="228234" cy="22823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613648" y="43708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 de bancada, sem ligação a uma máquina real.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Considerações finais</a:t>
            </a:r>
            <a:endParaRPr lang="en-US" sz="3200" dirty="0"/>
          </a:p>
        </p:txBody>
      </p:sp>
      <p:pic>
        <p:nvPicPr>
          <p:cNvPr id="3" name="Image 0" descr="C:/Users/49816471825/AppData/Local/Temp/lockmachine/deck/cards/painel-red-383x2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1131570"/>
            <a:ext cx="4073652" cy="32232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3D2E">
              <a:alpha val="12000"/>
            </a:srgbClr>
          </a:solidFill>
          <a:ln/>
        </p:spPr>
      </p:sp>
      <p:pic>
        <p:nvPicPr>
          <p:cNvPr id="6" name="Image 1" descr="C:/Users/49816471825/AppData/Local/Temp/lockmachine/deck/icones/x-FF7A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1795882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697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Capacitações conferidas no papel, sem registro.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078224" y="2743200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pic>
        <p:nvPicPr>
          <p:cNvPr id="10" name="Image 2" descr="C:/Users/49816471825/AppData/Local/Temp/lockmachine/deck/cards/painel-cobalt-383x2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1131570"/>
            <a:ext cx="4073652" cy="32232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1772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61772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F45FF">
              <a:alpha val="12000"/>
            </a:srgbClr>
          </a:solidFill>
          <a:ln/>
        </p:spPr>
      </p:sp>
      <p:pic>
        <p:nvPicPr>
          <p:cNvPr id="13" name="Image 3" descr="C:/Users/49816471825/AppData/Local/Temp/lockmachine/deck/icones/server-8C9B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94" y="1795882"/>
            <a:ext cx="285293" cy="28529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1772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C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4617720" y="2697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cartão identifica, o servidor decide e tudo fica registrado.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7872984" y="2743200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pic>
        <p:nvPicPr>
          <p:cNvPr id="17" name="Image 4" descr="C:/Users/49816471825/AppData/Local/Temp/lockmachine/deck/cards/painel-yellow-383x2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410" y="1131570"/>
            <a:ext cx="4073652" cy="322326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41248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8412480" y="16642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D23F">
              <a:alpha val="12000"/>
            </a:srgbClr>
          </a:solidFill>
          <a:ln/>
        </p:spPr>
      </p:sp>
      <p:pic>
        <p:nvPicPr>
          <p:cNvPr id="20" name="Image 5" descr="C:/Users/49816471825/AppData/Local/Temp/lockmachine/deck/icones/users-FFD23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154" y="1795882"/>
            <a:ext cx="285293" cy="285293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41248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8412480" y="2697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pelo problema e entregar uma parte pequena por vez.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548640" y="4526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capacitação </a:t>
            </a:r>
            <a:pPr indent="0" marL="0">
              <a:buNone/>
            </a:pPr>
            <a:r>
              <a:rPr lang="en-US" sz="4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válida</a:t>
            </a:r>
            <a:pPr indent="0" marL="0">
              <a:buNone/>
            </a:pPr>
            <a:r>
              <a:rPr lang="en-US" sz="4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sem acesso.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ao vivo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saímos dos slides e mostramos o sistema funcionando.</a:t>
            </a:r>
            <a:endParaRPr lang="en-US" sz="1700" dirty="0"/>
          </a:p>
        </p:txBody>
      </p:sp>
      <p:pic>
        <p:nvPicPr>
          <p:cNvPr id="4" name="Image 0" descr="C:/Users/49816471825/AppData/Local/Temp/lockmachine/deck/cards/painel-x-383x4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1680210"/>
            <a:ext cx="4073652" cy="4503420"/>
          </a:xfrm>
          <a:prstGeom prst="rect">
            <a:avLst/>
          </a:prstGeom>
        </p:spPr>
      </p:pic>
      <p:pic>
        <p:nvPicPr>
          <p:cNvPr id="5" name="Image 1" descr="C:/Users/49816471825/AppData/Local/Temp/lockmachine/deck/slides-img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3136392" cy="176422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" y="4114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da LinkWave e do produto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da regra de acesso</a:t>
            </a:r>
            <a:endParaRPr lang="en-US" sz="1400" dirty="0"/>
          </a:p>
        </p:txBody>
      </p:sp>
      <p:pic>
        <p:nvPicPr>
          <p:cNvPr id="8" name="Image 2" descr="C:/Users/49816471825/AppData/Local/Temp/lockmachine/deck/cards/painel-x-383x4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1680210"/>
            <a:ext cx="4073652" cy="4503420"/>
          </a:xfrm>
          <a:prstGeom prst="rect">
            <a:avLst/>
          </a:prstGeom>
        </p:spPr>
      </p:pic>
      <p:pic>
        <p:nvPicPr>
          <p:cNvPr id="9" name="Image 3" descr="C:/Users/49816471825/AppData/Local/Temp/lockmachine/deck/slides-img/pain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6" y="2148840"/>
            <a:ext cx="2743200" cy="176348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572000" y="4114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 administrador</a:t>
            </a:r>
            <a:endParaRPr lang="en-US" sz="1800" dirty="0"/>
          </a:p>
        </p:txBody>
      </p:sp>
      <p:sp>
        <p:nvSpPr>
          <p:cNvPr id="11" name="Text 5"/>
          <p:cNvSpPr txBox="1"/>
          <p:nvPr/>
        </p:nvSpPr>
        <p:spPr>
          <a:xfrm>
            <a:off x="457200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Painel, cadastros e capacitações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leitura e ver o histórico</a:t>
            </a:r>
            <a:endParaRPr lang="en-US" sz="1400" dirty="0"/>
          </a:p>
        </p:txBody>
      </p:sp>
      <p:pic>
        <p:nvPicPr>
          <p:cNvPr id="12" name="Image 4" descr="C:/Users/49816471825/AppData/Local/Temp/lockmachine/deck/cards/painel-x-383x43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410" y="1680210"/>
            <a:ext cx="4073652" cy="4503420"/>
          </a:xfrm>
          <a:prstGeom prst="rect">
            <a:avLst/>
          </a:prstGeom>
        </p:spPr>
      </p:pic>
      <p:pic>
        <p:nvPicPr>
          <p:cNvPr id="13" name="Image 5" descr="C:/Users/49816471825/AppData/Local/Temp/lockmachine/deck/slides-img/cel-inici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312" y="2148840"/>
            <a:ext cx="815484" cy="1764792"/>
          </a:xfrm>
          <a:prstGeom prst="rect">
            <a:avLst/>
          </a:prstGeom>
        </p:spPr>
      </p:pic>
      <p:pic>
        <p:nvPicPr>
          <p:cNvPr id="14" name="Image 6" descr="C:/Users/49816471825/AppData/Local/Temp/lockmachine/deck/slides-img/cel-capacitaco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0676" y="2148840"/>
            <a:ext cx="815484" cy="1764792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8366760" y="4114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 funcionário</a:t>
            </a:r>
            <a:endParaRPr lang="en-US" sz="1800" dirty="0"/>
          </a:p>
        </p:txBody>
      </p:sp>
      <p:sp>
        <p:nvSpPr>
          <p:cNvPr id="16" name="Text 7"/>
          <p:cNvSpPr txBox="1"/>
          <p:nvPr/>
        </p:nvSpPr>
        <p:spPr>
          <a:xfrm>
            <a:off x="836676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celular: capacitações e validade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quais máquinas está liberado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AppData/Local/Temp/lockmachine/deck/slides-img/fim-simbo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2103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85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691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LINKWAVE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2852928"/>
            <a:ext cx="329184" cy="329184"/>
          </a:xfrm>
          <a:prstGeom prst="ellipse">
            <a:avLst/>
          </a:prstGeom>
          <a:solidFill>
            <a:srgbClr val="2F45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8529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Leonardo Kronka Rodrigues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· Full-stack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291840"/>
            <a:ext cx="329184" cy="329184"/>
          </a:xfrm>
          <a:prstGeom prst="ellipse">
            <a:avLst/>
          </a:prstGeom>
          <a:solidFill>
            <a:srgbClr val="FF3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2918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Cauê Henrique de Oliveira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· Back-end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730752"/>
            <a:ext cx="329184" cy="329184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7307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Evelyn Caporali Escanavaque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4169664"/>
            <a:ext cx="329184" cy="329184"/>
          </a:xfrm>
          <a:prstGeom prst="ellipse">
            <a:avLst/>
          </a:prstGeom>
          <a:solidFill>
            <a:srgbClr val="1C212D"/>
          </a:solidFill>
          <a:ln w="9525">
            <a:solidFill>
              <a:srgbClr val="3A3F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1696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Victor Monteiro Gamero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4608576"/>
            <a:ext cx="329184" cy="329184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46085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Miranda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5212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REFERÊNCIAS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468112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NR-12 (Ministério do Trabalho e Emprego) · Lei nº 13.709/2018 (LGPD) · documentação de PHP, MySQL e ESP32 · soluções comparadas: Pilz, Rockwell e Fortress. Lista completa no documento do TCC.</a:t>
            </a:r>
            <a:endParaRPr lang="en-US" sz="1100" dirty="0"/>
          </a:p>
        </p:txBody>
      </p:sp>
      <p:pic>
        <p:nvPicPr>
          <p:cNvPr id="18" name="Image 1" descr="C:/Users/49816471825/Desktop/linkwave-lockmachine/assets/brand/linkwave-horizontal-escu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63640"/>
            <a:ext cx="1371600" cy="263364"/>
          </a:xfrm>
          <a:prstGeom prst="rect">
            <a:avLst/>
          </a:prstGeom>
        </p:spPr>
      </p:pic>
      <p:pic>
        <p:nvPicPr>
          <p:cNvPr id="19" name="Image 2" descr="C:/Users/49816471825/Desktop/linkwave-lockmachine/assets/brand/lockmachine-horizontal-escu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6274613"/>
            <a:ext cx="1600200" cy="2376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nkWave Noite">
  <a:themeElements>
    <a:clrScheme name="LinkWave Noite">
      <a:dk1>
        <a:srgbClr val="06070A"/>
      </a:dk1>
      <a:lt1>
        <a:srgbClr val="ECEEF4"/>
      </a:lt1>
      <a:dk2>
        <a:srgbClr val="0F1219"/>
      </a:dk2>
      <a:lt2>
        <a:srgbClr val="A6ACC0"/>
      </a:lt2>
      <a:accent1>
        <a:srgbClr val="2F45FF"/>
      </a:accent1>
      <a:accent2>
        <a:srgbClr val="FF3D2E"/>
      </a:accent2>
      <a:accent3>
        <a:srgbClr val="FFD23F"/>
      </a:accent3>
      <a:accent4>
        <a:srgbClr val="22D07B"/>
      </a:accent4>
      <a:accent5>
        <a:srgbClr val="8C9BFF"/>
      </a:accent5>
      <a:accent6>
        <a:srgbClr val="8B91A6"/>
      </a:accent6>
      <a:hlink>
        <a:srgbClr val="8C9BFF"/>
      </a:hlink>
      <a:folHlink>
        <a:srgbClr val="A6ACC0"/>
      </a:folHlink>
    </a:clrScheme>
    <a:fontScheme name="LinkWave Noi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LinkWave · SENAI Mococa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LockMachine · Apresentação de andamento</dc:title>
  <dc:subject>PptxGenJS Presentation</dc:subject>
  <dc:creator>Equipe LinkWave</dc:creator>
  <cp:lastModifiedBy>Equipe LinkWave</cp:lastModifiedBy>
  <cp:revision>1</cp:revision>
  <dcterms:created xsi:type="dcterms:W3CDTF">2026-10-28T18:37:13Z</dcterms:created>
  <dcterms:modified xsi:type="dcterms:W3CDTF">2026-10-28T18:37:13Z</dcterms:modified>
</cp:coreProperties>
</file>