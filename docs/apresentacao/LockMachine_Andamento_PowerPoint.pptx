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EB533636-0888-82D1-662A-5D586B4CA543}">
          <p14:sldIdLst>
            <p14:sldId id="256"/>
          </p14:sldIdLst>
        </p14:section>
        <p14:section name="O projeto" id="{478A9251-3A13-7561-DB56-CB99B99F0562}">
          <p14:sldIdLst>
            <p14:sldId id="257"/>
            <p14:sldId id="258"/>
            <p14:sldId id="259"/>
            <p14:sldId id="260"/>
          </p14:sldIdLst>
        </p14:section>
        <p14:section name="Como fizemos" id="{96628578-8EB5-6051-4E1E-75106AF83C93}">
          <p14:sldIdLst>
            <p14:sldId id="261"/>
            <p14:sldId id="262"/>
          </p14:sldIdLst>
        </p14:section>
        <p14:section name="Andamento" id="{833B642B-88E0-BA97-6DE3-0338EDB818DC}">
          <p14:sldIdLst>
            <p14:sldId id="263"/>
            <p14:sldId id="264"/>
            <p14:sldId id="265"/>
          </p14:sldIdLst>
        </p14:section>
        <p14:section name="Demonstração" id="{32ED6FBA-2E67-4ADB-ADCA-69E2FF657F1A}">
          <p14:sldIdLst>
            <p14:sldId id="266"/>
          </p14:sldIdLst>
        </p14:section>
        <p14:section name="Encerramento" id="{38D49502-C89A-4EF0-0AC1-BE153E515206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67010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Leonardo. Tempo: 30 s.
- Somos a LinkWave, Turma B. Cada um diz o nome e a sua frente.
- Nosso TCC é o LockMachine: só libera a máquina para quem tem as capacitações em dia.
- Primeiro um resumo rápido nos slides; depois mostramos o site e o app funcionando.
- É um MVP em desenvolvimento.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Leonardo. Tempo: 50 s.
- Em uma frase: o cartão só diz quem é a pessoa; quem decide é o sistema.
- O operador aproxima o crachá, o sistema confere cadastro, máquina e validade dos treinamentos, e libera ou bloqueia.
- Toda tentativa fica no histórico, com o motivo.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Gabriel. Tempo: 50 s.
- Para liberar alguém numa máquina, as informações ficam espalhadas: planilha, gaveta, certificado em papel, anotação à mão. E o resultado não fica registrado.
- Por que fazer: segurança (a NR-12 exige operador capacitado), rastreabilidade (tudo registrado) e padronização (a mesma regra para todos).
- Deixe claro: é apoio administrativo, não substitui NR-12 nem proteções físicas.
- Se perguntarem: esse cenário ainda vai ser confirmado com entrevistas (o roteiro está pronto).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Evelyn. Tempo: 40 s.
- Objetivo geral: um protótipo que libera ou bloqueia o acesso conferindo as capacitações e registra cada tentativa.
- Os específicos já mostram o andamento: banco e regra prontos; o app está pronto na web e falta gerar o APK; a leitora tem o programa escrito e falta montar; os testes formais são a próxima etapa.
- ANTES DE SEXTA: confiram se o objetivo geral está igual ao do documento do TCC.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Evelyn. Tempo: 40 s.
- Três perfis: o administrador (quem libera e cadastra), o funcionário (quem opera) e a leitora RFID na máquina.
- Levantamos 12 requisitos funcionais e 7 não funcionais, cada um com um critério de aceitação para conferir no teste.
- Essenciais: login por perfil, capacitações com validade, liberação pelo cartão e histórico.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Cauê. Tempo: 50 s.
- Trabalhamos com Scrum adaptado: o Leonardo é o PO, eu sou o Scrum Master, e cada um tem uma frente, mas todos conhecem o projeto inteiro.
- Entregas pequenas, revisadas pela equipe, com o código no GitHub.
- Tecnologias: site e app em HTML, CSS e JavaScript; servidor em PHP; banco MySQL; leitora com ESP32 e RFID.
- Escolhemos assim porque tudo roda na hospedagem da escola (cPanel). (Se usaram Trello ou outro quadro, citem aqui.)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João Victor. Tempo: 50 s.
- Siga as setas: o cartão é lido pela leitora da máquina, que pergunta ao servidor.
- O servidor confere a regra no banco e responde: libera ou bloqueia. A leitora não decide nada.
- O app, do administrador e do funcionário, usa o mesmo servidor.
- Regra de ouro: na dúvida, bloqueia. Se cair a rede ou o servidor, a máquina não libera.
- Tudo fica registrado no banco, com o motivo. Na demonstração mostramos isso funcionando.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Cauê. Tempo: 40 s.
- De 9 módulos, 6 estão prontos e funcionando juntos: site, simulador, banco, servidor e os dois apps.
</a:t>
            </a:r>
            <a:r>
              <a:rPr lang="en-US"/>
              <a:t>- </a:t>
            </a:r>
            <a:r>
              <a:rPr lang="pt-BR"/>
              <a:t>Em preparação: o APK (o site já está publicado com HTTPS, então já dá para gerar) e a leitora (o programa está escrito, falta montar).</a:t>
            </a:r>
            <a:r>
              <a:rPr lang="en-US" dirty="0"/>
              <a:t>
- Testes: testamos durante o desenvolvimento; os testes formais, com evidências, são a próxima etapa. Por isso ainda é um MVP em desenvolvimento.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Gabriel. Tempo: 40 s.
</a:t>
            </a:r>
            <a:r>
              <a:rPr lang="en-US"/>
              <a:t>- </a:t>
            </a:r>
            <a:r>
              <a:rPr lang="pt-BR"/>
              <a:t>O primeiro passo já foi feito: o site e o app estão no ar em somoslinkwave.com.br, com HTTPS. Agora, em ordem: gerar o APK, montar a bancada da leitora, executar os testes, registrar as evidências e preparar a apresentação final.</a:t>
            </a:r>
            <a:r>
              <a:rPr lang="en-US" dirty="0"/>
              <a:t>
- Limites, sem medo de falar: é apoio administrativo, não substitui NR-12 nem proteções físicas, e a leitora é de bancada, não liga numa máquina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João Victor. Tempo: 30 s.
- O problema: capacitações conferidas no papel e sem registro. A solução: o cartão identifica, o servidor decide e tudo fica registrado.
- Aprendizado: é uma sugestão; combinem o aprendizado real da equipe e falem com as suas palavras.
- Feche com a frase: "Sem capacitação válida, sem acesso." e passe para 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PUXA: Leonardo. Neste slide, só anunciem e troquem para o navegador (10 a 12 minutos de demonstração).
Divisão sugerida da demonstração:
- Site (Gabriel): página da LinkWave e página do LockMachine; use o simulador com a Ana (liberada) e o Bruno (bloqueado, NR-12 vencida). Diga que os nomes são fictícios.
- App do administrador (Leonardo opera; Cauê explica a regra e João mostra o banco/histórico): painel, cadastro de um funcionário com capacitação, "Simular leitura" e o resultado no histórico com o motivo.
- App do funcionário (Evelyn, no celular): entrar com a matrícula, capacitações com validade e máquinas liberadas.
</a:t>
            </a:r>
            <a:r>
              <a:rPr lang="en-US"/>
              <a:t>
</a:t>
            </a:r>
            <a:r>
              <a:rPr lang="pt-BR"/>
              <a:t>ANTES DE SEXTA: deixem tudo aberto e logado no site publicado (https://somoslinkwave.com.br e https://somoslinkwave.com.br/app/).</a:t>
            </a:r>
            <a:r>
              <a:rPr lang="en-US"/>
              <a:t> </a:t>
            </a:r>
            <a:r>
              <a:rPr lang="en-US" dirty="0"/>
              <a:t>Treinem a demonstração inteira pelo menos duas vezes.
Plano B: se a rede ou o servidor falharem, usem os prints da versão completa da apresentação (pasta completa).
Depois da demonstração, voltem para o último slide (Obrigado / Perguntas).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Leonardo agradece; todos respondem às perguntas. Tempo: 20 s.
- Agradeçam ao coordenador e aos professores Ricardo e Tom.
- As referências principais estão aqui; a lista completa está no documento do TCC.
- Perguntas: quem responde é quem cuida da frente (banco: João; servidor e regra: Cauê; telas: Evelyn; documentação e testes: Gabriel; visão geral e cronograma: Leonardo).
- Perguntas prováveis: "e se a internet cair?" (na dúvida, bloqueia); "isso substitui a NR-12?" (não, é apoio administrativo); "quando fica pronto?" (próximos passos do slide 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607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0607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49816471825/Desktop/linkwave-lockmachine/assets/brand/linkwave-simbolo-esc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82512"/>
            <a:ext cx="201168" cy="2011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41248" y="635508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LockMachine · Apresentação de andamento · TCC 2026</a:t>
            </a: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15.png"/><Relationship Id="rId3" Type="http://schemas.openxmlformats.org/officeDocument/2006/relationships/image" Target="../media/image25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10.png"/><Relationship Id="rId10" Type="http://schemas.openxmlformats.org/officeDocument/2006/relationships/image" Target="../media/image31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10" Type="http://schemas.openxmlformats.org/officeDocument/2006/relationships/image" Target="../media/image24.png"/><Relationship Id="rId4" Type="http://schemas.openxmlformats.org/officeDocument/2006/relationships/image" Target="../media/image35.png"/><Relationship Id="rId9" Type="http://schemas.openxmlformats.org/officeDocument/2006/relationships/image" Target="../media/image3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10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12" Type="http://schemas.openxmlformats.org/officeDocument/2006/relationships/image" Target="../media/image47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11" Type="http://schemas.openxmlformats.org/officeDocument/2006/relationships/image" Target="../media/image28.png"/><Relationship Id="rId5" Type="http://schemas.openxmlformats.org/officeDocument/2006/relationships/image" Target="../media/image42.png"/><Relationship Id="rId15" Type="http://schemas.openxmlformats.org/officeDocument/2006/relationships/image" Target="../media/image32.png"/><Relationship Id="rId10" Type="http://schemas.openxmlformats.org/officeDocument/2006/relationships/image" Target="../media/image46.png"/><Relationship Id="rId4" Type="http://schemas.openxmlformats.org/officeDocument/2006/relationships/image" Target="../media/image41.png"/><Relationship Id="rId9" Type="http://schemas.openxmlformats.org/officeDocument/2006/relationships/image" Target="../media/image30.png"/><Relationship Id="rId14" Type="http://schemas.openxmlformats.org/officeDocument/2006/relationships/image" Target="../media/image4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56.png"/><Relationship Id="rId3" Type="http://schemas.openxmlformats.org/officeDocument/2006/relationships/image" Target="../media/image50.png"/><Relationship Id="rId7" Type="http://schemas.openxmlformats.org/officeDocument/2006/relationships/image" Target="../media/image52.png"/><Relationship Id="rId12" Type="http://schemas.openxmlformats.org/officeDocument/2006/relationships/image" Target="../media/image5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11" Type="http://schemas.openxmlformats.org/officeDocument/2006/relationships/image" Target="../media/image54.png"/><Relationship Id="rId5" Type="http://schemas.openxmlformats.org/officeDocument/2006/relationships/image" Target="../media/image51.png"/><Relationship Id="rId10" Type="http://schemas.openxmlformats.org/officeDocument/2006/relationships/image" Target="../media/image32.png"/><Relationship Id="rId4" Type="http://schemas.openxmlformats.org/officeDocument/2006/relationships/image" Target="../media/image30.png"/><Relationship Id="rId9" Type="http://schemas.openxmlformats.org/officeDocument/2006/relationships/image" Target="../media/image53.png"/><Relationship Id="rId14" Type="http://schemas.openxmlformats.org/officeDocument/2006/relationships/image" Target="../media/image5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61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62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49816471825/AppData/Local/Temp/lockmachine/deck/slides-img/capa-pren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2103" y="0"/>
            <a:ext cx="5879592" cy="6858000"/>
          </a:xfrm>
          <a:prstGeom prst="rect">
            <a:avLst/>
          </a:prstGeom>
        </p:spPr>
      </p:pic>
      <p:pic>
        <p:nvPicPr>
          <p:cNvPr id="3" name="Image 1" descr="C:/Users/49816471825/Desktop/linkwave-lockmachine/assets/brand/lockmachine-horizontal-escu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731520"/>
            <a:ext cx="3291840" cy="488911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46304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de acesso a máquinas por capacitação</a:t>
            </a:r>
            <a:endParaRPr lang="en-US" sz="3400" dirty="0"/>
          </a:p>
        </p:txBody>
      </p:sp>
      <p:sp>
        <p:nvSpPr>
          <p:cNvPr id="5" name="Text 1"/>
          <p:cNvSpPr txBox="1"/>
          <p:nvPr/>
        </p:nvSpPr>
        <p:spPr>
          <a:xfrm>
            <a:off x="685800" y="31272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de andamento à coordenação · 30/10/2026</a:t>
            </a:r>
            <a:endParaRPr lang="en-US" sz="1500" dirty="0"/>
          </a:p>
        </p:txBody>
      </p:sp>
      <p:sp>
        <p:nvSpPr>
          <p:cNvPr id="6" name="Text 2"/>
          <p:cNvSpPr/>
          <p:nvPr/>
        </p:nvSpPr>
        <p:spPr>
          <a:xfrm>
            <a:off x="685800" y="3566160"/>
            <a:ext cx="2345253" cy="329184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em desenvolvimento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4343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LINKWAVE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461772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Leonardo Kronka Rodrigues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Cauê Henrique de Oliveira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Evelyn Caporali Escanavaque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João Victor Monteiro Gamero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 Miranda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3200400" y="4343400"/>
            <a:ext cx="308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200400" y="46177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 em Desenvolvimento de Sistemas · Turma B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200400" y="5166360"/>
            <a:ext cx="308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ORIENTAÇÃO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200400" y="5440680"/>
            <a:ext cx="3086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Ricardo Akira Harada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Wellinton Cardoso Teodoro (Tom)</a:t>
            </a:r>
            <a:endParaRPr lang="en-US" sz="1300" dirty="0"/>
          </a:p>
        </p:txBody>
      </p:sp>
      <p:pic>
        <p:nvPicPr>
          <p:cNvPr id="13" name="Image 2" descr="C:/Users/49816471825/Desktop/linkwave-lockmachine/assets/brand/linkwave-horizontal-escu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6236208"/>
            <a:ext cx="1371600" cy="2633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240280" y="6236208"/>
            <a:ext cx="2743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SENAI Mococa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projeto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cartão identifica. </a:t>
            </a:r>
            <a:r>
              <a:rPr lang="en-US" sz="30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decide.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LockMachine só libera a máquina para quem está com as capacitações em dia, e registra cada tentativa.</a:t>
            </a:r>
            <a:endParaRPr lang="en-US" sz="1700" dirty="0"/>
          </a:p>
        </p:txBody>
      </p:sp>
      <p:pic>
        <p:nvPicPr>
          <p:cNvPr id="5" name="Image 0" descr="C:/Users/49816471825/AppData/Local/Temp/lockmachine/deck/cards/painel-yellow-383x2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90" y="2640330"/>
            <a:ext cx="4073652" cy="31775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8" name="Image 1" descr="C:/Users/49816471825/AppData/Local/Temp/lockmachine/deck/icones/rfid-FFD2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335401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64992" y="32461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600" dirty="0">
                <a:solidFill>
                  <a:srgbClr val="3A3F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0233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Aproxime o cartão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5262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operador encosta o crachá na leitora da máquina.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078224" y="4224528"/>
            <a:ext cx="237744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pic>
        <p:nvPicPr>
          <p:cNvPr id="13" name="Image 2" descr="C:/Users/49816471825/AppData/Local/Temp/lockmachine/deck/cards/painel-cobalt-383x2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650" y="2640330"/>
            <a:ext cx="4073652" cy="31775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617720" y="3200400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617720" y="3200400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2F45FF">
              <a:alpha val="12000"/>
            </a:srgbClr>
          </a:solidFill>
          <a:ln/>
        </p:spPr>
      </p:sp>
      <p:pic>
        <p:nvPicPr>
          <p:cNvPr id="16" name="Image 3" descr="C:/Users/49816471825/AppData/Local/Temp/lockmachine/deck/icones/server-8C9B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339" y="335401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159752" y="32461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600" dirty="0">
                <a:solidFill>
                  <a:srgbClr val="3A3F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600" dirty="0"/>
          </a:p>
        </p:txBody>
      </p:sp>
      <p:sp>
        <p:nvSpPr>
          <p:cNvPr id="18" name="Text 12"/>
          <p:cNvSpPr txBox="1"/>
          <p:nvPr/>
        </p:nvSpPr>
        <p:spPr>
          <a:xfrm>
            <a:off x="4617720" y="40233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confere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4617720" y="45262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Cadastro ativo, máquina disponível e treinamentos dentro da validade.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872984" y="4224528"/>
            <a:ext cx="237744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pic>
        <p:nvPicPr>
          <p:cNvPr id="21" name="Image 4" descr="C:/Users/49816471825/AppData/Local/Temp/lockmachine/deck/cards/painel-green-383x2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2410" y="2640330"/>
            <a:ext cx="4073652" cy="317754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8412480" y="3200400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8412480" y="3200400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22D07B">
              <a:alpha val="12000"/>
            </a:srgbClr>
          </a:solidFill>
          <a:ln/>
        </p:spPr>
      </p:sp>
      <p:pic>
        <p:nvPicPr>
          <p:cNvPr id="24" name="Image 5" descr="C:/Users/49816471825/AppData/Local/Temp/lockmachine/deck/icones/db-22D07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66099" y="3354019"/>
            <a:ext cx="332842" cy="332842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0954512" y="32461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600" dirty="0">
                <a:solidFill>
                  <a:srgbClr val="3A3F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600" dirty="0"/>
          </a:p>
        </p:txBody>
      </p:sp>
      <p:sp>
        <p:nvSpPr>
          <p:cNvPr id="26" name="Text 18"/>
          <p:cNvSpPr txBox="1"/>
          <p:nvPr/>
        </p:nvSpPr>
        <p:spPr>
          <a:xfrm>
            <a:off x="8412480" y="40233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Libera ou bloqueia</a:t>
            </a:r>
            <a:endParaRPr lang="en-US" sz="2000" dirty="0"/>
          </a:p>
        </p:txBody>
      </p:sp>
      <p:sp>
        <p:nvSpPr>
          <p:cNvPr id="27" name="Text 19"/>
          <p:cNvSpPr txBox="1"/>
          <p:nvPr/>
        </p:nvSpPr>
        <p:spPr>
          <a:xfrm>
            <a:off x="8412480" y="45262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guarda no histórico quem tentou, quando e por quê.</a:t>
            </a:r>
            <a:endParaRPr lang="en-US" sz="15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e justificativa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 a informação fica espalhada</a:t>
            </a:r>
            <a:endParaRPr lang="en-US" sz="2400" dirty="0"/>
          </a:p>
        </p:txBody>
      </p:sp>
      <p:pic>
        <p:nvPicPr>
          <p:cNvPr id="4" name="Image 0" descr="C:/Users/49816471825/AppData/Local/Temp/lockmachine/deck/cards/painel-cobalt-235x1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90" y="1817370"/>
            <a:ext cx="2720340" cy="17785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194560" y="228600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194560" y="228600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2F45FF">
              <a:alpha val="12000"/>
            </a:srgbClr>
          </a:solidFill>
          <a:ln/>
        </p:spPr>
      </p:sp>
      <p:pic>
        <p:nvPicPr>
          <p:cNvPr id="7" name="Image 1" descr="C:/Users/49816471825/AppData/Local/Temp/lockmachine/deck/icones/grid-8C9B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7953" y="2369393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49808" y="230428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CADASTRO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7614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planilha do RH</a:t>
            </a:r>
            <a:endParaRPr lang="en-US" sz="1600" dirty="0"/>
          </a:p>
        </p:txBody>
      </p:sp>
      <p:pic>
        <p:nvPicPr>
          <p:cNvPr id="10" name="Image 2" descr="C:/Users/49816471825/AppData/Local/Temp/lockmachine/deck/cards/painel-cobalt-235x1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4610" y="2018538"/>
            <a:ext cx="2720340" cy="177850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526280" y="2487168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526280" y="2487168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2F45FF">
              <a:alpha val="12000"/>
            </a:srgbClr>
          </a:solidFill>
          <a:ln/>
        </p:spPr>
      </p:sp>
      <p:pic>
        <p:nvPicPr>
          <p:cNvPr id="13" name="Image 3" descr="C:/Users/49816471825/AppData/Local/Temp/lockmachine/deck/icones/card-8C9B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9673" y="2570561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081528" y="25054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CARTÃO</a:t>
            </a:r>
            <a:endParaRPr lang="en-US" sz="1000" dirty="0"/>
          </a:p>
        </p:txBody>
      </p:sp>
      <p:sp>
        <p:nvSpPr>
          <p:cNvPr id="15" name="Text 9"/>
          <p:cNvSpPr txBox="1"/>
          <p:nvPr/>
        </p:nvSpPr>
        <p:spPr>
          <a:xfrm>
            <a:off x="3081528" y="296265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numa gaveta</a:t>
            </a:r>
            <a:endParaRPr lang="en-US" sz="1600" dirty="0"/>
          </a:p>
        </p:txBody>
      </p:sp>
      <p:pic>
        <p:nvPicPr>
          <p:cNvPr id="16" name="Image 4" descr="C:/Users/49816471825/AppData/Local/Temp/lockmachine/deck/cards/painel-steel-235x1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6330" y="1817370"/>
            <a:ext cx="2720340" cy="1778508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6858000" y="228600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6858000" y="228600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8B91A6">
              <a:alpha val="12000"/>
            </a:srgbClr>
          </a:solidFill>
          <a:ln/>
        </p:spPr>
      </p:sp>
      <p:pic>
        <p:nvPicPr>
          <p:cNvPr id="19" name="Image 5" descr="C:/Users/49816471825/AppData/Local/Temp/lockmachine/deck/icones/files-A6ACC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1393" y="2369393"/>
            <a:ext cx="180685" cy="180685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413248" y="230428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</a:t>
            </a:r>
            <a:endParaRPr lang="en-US" sz="1000" dirty="0"/>
          </a:p>
        </p:txBody>
      </p:sp>
      <p:sp>
        <p:nvSpPr>
          <p:cNvPr id="21" name="Text 13"/>
          <p:cNvSpPr txBox="1"/>
          <p:nvPr/>
        </p:nvSpPr>
        <p:spPr>
          <a:xfrm>
            <a:off x="5413248" y="27614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certificado</a:t>
            </a:r>
            <a:endParaRPr lang="en-US" sz="1600" dirty="0"/>
          </a:p>
        </p:txBody>
      </p:sp>
      <p:pic>
        <p:nvPicPr>
          <p:cNvPr id="22" name="Image 6" descr="C:/Users/49816471825/AppData/Local/Temp/lockmachine/deck/cards/painel-yellow-235x13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2890" y="3234690"/>
            <a:ext cx="2720340" cy="1778508"/>
          </a:xfrm>
          <a:prstGeom prst="rect">
            <a:avLst/>
          </a:prstGeom>
        </p:spPr>
      </p:pic>
      <p:sp>
        <p:nvSpPr>
          <p:cNvPr id="23" name="Shape 14"/>
          <p:cNvSpPr/>
          <p:nvPr/>
        </p:nvSpPr>
        <p:spPr>
          <a:xfrm>
            <a:off x="2194560" y="370332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24" name="Shape 15"/>
          <p:cNvSpPr/>
          <p:nvPr/>
        </p:nvSpPr>
        <p:spPr>
          <a:xfrm>
            <a:off x="2194560" y="370332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25" name="Image 7" descr="C:/Users/49816471825/AppData/Local/Temp/lockmachine/deck/icones/calendar-FFD23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77953" y="3786713"/>
            <a:ext cx="180685" cy="180685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49808" y="372160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</a:t>
            </a:r>
            <a:endParaRPr lang="en-US" sz="1000" dirty="0"/>
          </a:p>
        </p:txBody>
      </p:sp>
      <p:sp>
        <p:nvSpPr>
          <p:cNvPr id="27" name="Text 17"/>
          <p:cNvSpPr txBox="1"/>
          <p:nvPr/>
        </p:nvSpPr>
        <p:spPr>
          <a:xfrm>
            <a:off x="749808" y="41788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anotada à mão</a:t>
            </a:r>
            <a:endParaRPr lang="en-US" sz="1600" dirty="0"/>
          </a:p>
        </p:txBody>
      </p:sp>
      <p:pic>
        <p:nvPicPr>
          <p:cNvPr id="28" name="Image 8" descr="C:/Users/49816471825/AppData/Local/Temp/lockmachine/deck/cards/painel-yellow-235x13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94610" y="3435858"/>
            <a:ext cx="2720340" cy="1778508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4526280" y="3904488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30" name="Shape 19"/>
          <p:cNvSpPr/>
          <p:nvPr/>
        </p:nvSpPr>
        <p:spPr>
          <a:xfrm>
            <a:off x="4526280" y="3904488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31" name="Image 9" descr="C:/Users/49816471825/AppData/Local/Temp/lockmachine/deck/icones/users-FFD23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09673" y="3987881"/>
            <a:ext cx="180685" cy="180685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3081528" y="39227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3081528" y="437997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pedido verbal</a:t>
            </a:r>
            <a:endParaRPr lang="en-US" sz="1600" dirty="0"/>
          </a:p>
        </p:txBody>
      </p:sp>
      <p:pic>
        <p:nvPicPr>
          <p:cNvPr id="34" name="Image 10" descr="C:/Users/49816471825/AppData/Local/Temp/lockmachine/deck/cards/painel-red-235x13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26330" y="3234690"/>
            <a:ext cx="2720340" cy="1778508"/>
          </a:xfrm>
          <a:prstGeom prst="rect">
            <a:avLst/>
          </a:prstGeom>
        </p:spPr>
      </p:pic>
      <p:sp>
        <p:nvSpPr>
          <p:cNvPr id="35" name="Shape 22"/>
          <p:cNvSpPr/>
          <p:nvPr/>
        </p:nvSpPr>
        <p:spPr>
          <a:xfrm>
            <a:off x="6858000" y="370332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36" name="Shape 23"/>
          <p:cNvSpPr/>
          <p:nvPr/>
        </p:nvSpPr>
        <p:spPr>
          <a:xfrm>
            <a:off x="6858000" y="370332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FF3D2E">
              <a:alpha val="12000"/>
            </a:srgbClr>
          </a:solidFill>
          <a:ln/>
        </p:spPr>
      </p:sp>
      <p:pic>
        <p:nvPicPr>
          <p:cNvPr id="37" name="Image 11" descr="C:/Users/49816471825/AppData/Local/Temp/lockmachine/deck/icones/x-FF7A6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41393" y="3786713"/>
            <a:ext cx="180685" cy="180685"/>
          </a:xfrm>
          <a:prstGeom prst="rect">
            <a:avLst/>
          </a:prstGeom>
        </p:spPr>
      </p:pic>
      <p:sp>
        <p:nvSpPr>
          <p:cNvPr id="38" name="Text 24"/>
          <p:cNvSpPr txBox="1"/>
          <p:nvPr/>
        </p:nvSpPr>
        <p:spPr>
          <a:xfrm>
            <a:off x="5413248" y="372160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000" dirty="0"/>
          </a:p>
        </p:txBody>
      </p:sp>
      <p:sp>
        <p:nvSpPr>
          <p:cNvPr id="39" name="Text 25"/>
          <p:cNvSpPr txBox="1"/>
          <p:nvPr/>
        </p:nvSpPr>
        <p:spPr>
          <a:xfrm>
            <a:off x="5413248" y="41788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registro</a:t>
            </a:r>
            <a:endParaRPr lang="en-US" sz="1600" dirty="0"/>
          </a:p>
        </p:txBody>
      </p:sp>
      <p:sp>
        <p:nvSpPr>
          <p:cNvPr id="40" name="Text 26"/>
          <p:cNvSpPr txBox="1"/>
          <p:nvPr/>
        </p:nvSpPr>
        <p:spPr>
          <a:xfrm>
            <a:off x="548640" y="513892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Conferir tudo isso é lento, e nenhuma tentativa fica registrada.</a:t>
            </a:r>
            <a:endParaRPr lang="en-US" sz="1500" dirty="0"/>
          </a:p>
        </p:txBody>
      </p:sp>
      <p:pic>
        <p:nvPicPr>
          <p:cNvPr id="41" name="Image 12" descr="C:/Users/49816471825/AppData/Local/Temp/lockmachine/deck/cards/painel-x-418x44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32370" y="1085850"/>
            <a:ext cx="4393692" cy="4640580"/>
          </a:xfrm>
          <a:prstGeom prst="rect">
            <a:avLst/>
          </a:prstGeom>
        </p:spPr>
      </p:pic>
      <p:sp>
        <p:nvSpPr>
          <p:cNvPr id="42" name="Text 27"/>
          <p:cNvSpPr txBox="1"/>
          <p:nvPr/>
        </p:nvSpPr>
        <p:spPr>
          <a:xfrm>
            <a:off x="8092440" y="157276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fazer</a:t>
            </a:r>
            <a:endParaRPr lang="en-US" sz="2000" dirty="0"/>
          </a:p>
        </p:txBody>
      </p:sp>
      <p:sp>
        <p:nvSpPr>
          <p:cNvPr id="43" name="Shape 28"/>
          <p:cNvSpPr/>
          <p:nvPr/>
        </p:nvSpPr>
        <p:spPr>
          <a:xfrm>
            <a:off x="8092440" y="2194560"/>
            <a:ext cx="530352" cy="53035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44" name="Shape 29"/>
          <p:cNvSpPr/>
          <p:nvPr/>
        </p:nvSpPr>
        <p:spPr>
          <a:xfrm>
            <a:off x="8092440" y="2194560"/>
            <a:ext cx="530352" cy="530352"/>
          </a:xfrm>
          <a:prstGeom prst="roundRect">
            <a:avLst>
              <a:gd name="adj" fmla="val 28000"/>
            </a:avLst>
          </a:prstGeom>
          <a:solidFill>
            <a:srgbClr val="FF3D2E">
              <a:alpha val="12000"/>
            </a:srgbClr>
          </a:solidFill>
          <a:ln/>
        </p:spPr>
      </p:sp>
      <p:pic>
        <p:nvPicPr>
          <p:cNvPr id="45" name="Image 13" descr="C:/Users/49816471825/AppData/Local/Temp/lockmachine/deck/icones/shield-FF7A6F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19724" y="2321844"/>
            <a:ext cx="275783" cy="275783"/>
          </a:xfrm>
          <a:prstGeom prst="rect">
            <a:avLst/>
          </a:prstGeom>
        </p:spPr>
      </p:pic>
      <p:sp>
        <p:nvSpPr>
          <p:cNvPr id="46" name="Text 30"/>
          <p:cNvSpPr txBox="1"/>
          <p:nvPr/>
        </p:nvSpPr>
        <p:spPr>
          <a:xfrm>
            <a:off x="8778240" y="216712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NR-12 exige operador capacitado.</a:t>
            </a:r>
            <a:endParaRPr lang="en-US" sz="1400" dirty="0"/>
          </a:p>
        </p:txBody>
      </p:sp>
      <p:sp>
        <p:nvSpPr>
          <p:cNvPr id="47" name="Shape 31"/>
          <p:cNvSpPr/>
          <p:nvPr/>
        </p:nvSpPr>
        <p:spPr>
          <a:xfrm>
            <a:off x="8092440" y="3218688"/>
            <a:ext cx="530352" cy="53035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48" name="Shape 32"/>
          <p:cNvSpPr/>
          <p:nvPr/>
        </p:nvSpPr>
        <p:spPr>
          <a:xfrm>
            <a:off x="8092440" y="3218688"/>
            <a:ext cx="530352" cy="530352"/>
          </a:xfrm>
          <a:prstGeom prst="roundRect">
            <a:avLst>
              <a:gd name="adj" fmla="val 28000"/>
            </a:avLst>
          </a:prstGeom>
          <a:solidFill>
            <a:srgbClr val="2F45FF">
              <a:alpha val="12000"/>
            </a:srgbClr>
          </a:solidFill>
          <a:ln/>
        </p:spPr>
      </p:sp>
      <p:pic>
        <p:nvPicPr>
          <p:cNvPr id="49" name="Image 14" descr="C:/Users/49816471825/AppData/Local/Temp/lockmachine/deck/icones/history-8C9BFF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19724" y="3345972"/>
            <a:ext cx="275783" cy="275783"/>
          </a:xfrm>
          <a:prstGeom prst="rect">
            <a:avLst/>
          </a:prstGeom>
        </p:spPr>
      </p:pic>
      <p:sp>
        <p:nvSpPr>
          <p:cNvPr id="50" name="Text 33"/>
          <p:cNvSpPr txBox="1"/>
          <p:nvPr/>
        </p:nvSpPr>
        <p:spPr>
          <a:xfrm>
            <a:off x="8778240" y="319125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tentativa fica registrada.</a:t>
            </a:r>
            <a:endParaRPr lang="en-US" sz="1400" dirty="0"/>
          </a:p>
        </p:txBody>
      </p:sp>
      <p:sp>
        <p:nvSpPr>
          <p:cNvPr id="51" name="Shape 34"/>
          <p:cNvSpPr/>
          <p:nvPr/>
        </p:nvSpPr>
        <p:spPr>
          <a:xfrm>
            <a:off x="8092440" y="4242816"/>
            <a:ext cx="530352" cy="53035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52" name="Shape 35"/>
          <p:cNvSpPr/>
          <p:nvPr/>
        </p:nvSpPr>
        <p:spPr>
          <a:xfrm>
            <a:off x="8092440" y="4242816"/>
            <a:ext cx="530352" cy="530352"/>
          </a:xfrm>
          <a:prstGeom prst="roundRect">
            <a:avLst>
              <a:gd name="adj" fmla="val 28000"/>
            </a:avLst>
          </a:prstGeom>
          <a:solidFill>
            <a:srgbClr val="22D07B">
              <a:alpha val="12000"/>
            </a:srgbClr>
          </a:solidFill>
          <a:ln/>
        </p:spPr>
      </p:sp>
      <p:pic>
        <p:nvPicPr>
          <p:cNvPr id="53" name="Image 15" descr="C:/Users/49816471825/AppData/Local/Temp/lockmachine/deck/icones/check-22D07B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19724" y="4370100"/>
            <a:ext cx="275783" cy="275783"/>
          </a:xfrm>
          <a:prstGeom prst="rect">
            <a:avLst/>
          </a:prstGeom>
        </p:spPr>
      </p:pic>
      <p:sp>
        <p:nvSpPr>
          <p:cNvPr id="54" name="Text 36"/>
          <p:cNvSpPr txBox="1"/>
          <p:nvPr/>
        </p:nvSpPr>
        <p:spPr>
          <a:xfrm>
            <a:off x="8778240" y="421538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Padronização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regra vale para todos.</a:t>
            </a:r>
            <a:endParaRPr lang="en-US" sz="1400" dirty="0"/>
          </a:p>
        </p:txBody>
      </p:sp>
      <p:sp>
        <p:nvSpPr>
          <p:cNvPr id="55" name="Shape 37"/>
          <p:cNvSpPr/>
          <p:nvPr/>
        </p:nvSpPr>
        <p:spPr>
          <a:xfrm>
            <a:off x="506578" y="5810098"/>
            <a:ext cx="221285" cy="221285"/>
          </a:xfrm>
          <a:prstGeom prst="ellipse">
            <a:avLst/>
          </a:prstGeom>
          <a:solidFill>
            <a:srgbClr val="FFD23F">
              <a:alpha val="20000"/>
            </a:srgbClr>
          </a:solidFill>
          <a:ln/>
        </p:spPr>
      </p:sp>
      <p:sp>
        <p:nvSpPr>
          <p:cNvPr id="56" name="Shape 38"/>
          <p:cNvSpPr/>
          <p:nvPr/>
        </p:nvSpPr>
        <p:spPr>
          <a:xfrm>
            <a:off x="576986" y="5880506"/>
            <a:ext cx="100584" cy="100584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57" name="Text 39"/>
          <p:cNvSpPr txBox="1"/>
          <p:nvPr/>
        </p:nvSpPr>
        <p:spPr>
          <a:xfrm>
            <a:off x="868680" y="5779008"/>
            <a:ext cx="10515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Apoio administrativo: o LockMachine não substitui a NR-12, as proteções físicas nem os intertravamentos.</a:t>
            </a:r>
            <a:endParaRPr lang="en-US" sz="1100" dirty="0"/>
          </a:p>
        </p:txBody>
      </p:sp>
      <p:sp>
        <p:nvSpPr>
          <p:cNvPr id="5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3200" dirty="0"/>
          </a:p>
        </p:txBody>
      </p:sp>
      <p:pic>
        <p:nvPicPr>
          <p:cNvPr id="3" name="Image 0" descr="C:/Users/49816471825/AppData/Local/Temp/lockmachine/deck/cards/painel2-yellow-1213x1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90" y="1085850"/>
            <a:ext cx="11663172" cy="17145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5361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GERAL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81051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um protótipo que libere ou bloqueie o acesso a máquinas conferindo as capacitações de cada operador, com registro de cada tentativa.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88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ESPECÍFICOS E ONDE ESTAMOS</a:t>
            </a:r>
            <a:endParaRPr lang="en-US" sz="1000" dirty="0"/>
          </a:p>
        </p:txBody>
      </p:sp>
      <p:pic>
        <p:nvPicPr>
          <p:cNvPr id="7" name="Image 1" descr="C:/Users/49816471825/AppData/Local/Temp/lockmachine/deck/cards/painel-green-229x2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" y="2823210"/>
            <a:ext cx="2665476" cy="29946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77240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77240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22D07B">
              <a:alpha val="12000"/>
            </a:srgbClr>
          </a:solidFill>
          <a:ln/>
        </p:spPr>
      </p:sp>
      <p:pic>
        <p:nvPicPr>
          <p:cNvPr id="10" name="Image 2" descr="C:/Users/49816471825/AppData/Local/Temp/lockmachine/deck/icones/db-22D0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914" y="34692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77240" y="40233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777240" y="5029200"/>
            <a:ext cx="1310518" cy="29260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1050" dirty="0"/>
          </a:p>
        </p:txBody>
      </p:sp>
      <p:pic>
        <p:nvPicPr>
          <p:cNvPr id="13" name="Image 3" descr="C:/Users/49816471825/AppData/Local/Temp/lockmachine/deck/cards/painel-red-229x2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2314" y="2823210"/>
            <a:ext cx="2665476" cy="299466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3026664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3026664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F3D2E">
              <a:alpha val="12000"/>
            </a:srgbClr>
          </a:solidFill>
          <a:ln/>
        </p:spPr>
      </p:sp>
      <p:pic>
        <p:nvPicPr>
          <p:cNvPr id="16" name="Image 4" descr="C:/Users/49816471825/AppData/Local/Temp/lockmachine/deck/icones/server-FF7A6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58338" y="3469234"/>
            <a:ext cx="285293" cy="285293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3026664" y="40233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acesso no servidor</a:t>
            </a:r>
            <a:endParaRPr lang="en-US" sz="1500" dirty="0"/>
          </a:p>
        </p:txBody>
      </p:sp>
      <p:sp>
        <p:nvSpPr>
          <p:cNvPr id="18" name="Text 11"/>
          <p:cNvSpPr/>
          <p:nvPr/>
        </p:nvSpPr>
        <p:spPr>
          <a:xfrm>
            <a:off x="3026664" y="5029200"/>
            <a:ext cx="1310518" cy="29260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1050" dirty="0"/>
          </a:p>
        </p:txBody>
      </p:sp>
      <p:pic>
        <p:nvPicPr>
          <p:cNvPr id="19" name="Image 5" descr="C:/Users/49816471825/AppData/Local/Temp/lockmachine/deck/cards/painel-cobalt-229x26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1738" y="2823210"/>
            <a:ext cx="2665476" cy="299466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5276088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5276088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2F45FF">
              <a:alpha val="12000"/>
            </a:srgbClr>
          </a:solidFill>
          <a:ln/>
        </p:spPr>
      </p:sp>
      <p:pic>
        <p:nvPicPr>
          <p:cNvPr id="22" name="Image 6" descr="C:/Users/49816471825/AppData/Local/Temp/lockmachine/deck/icones/browser-8C9B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7762" y="3469234"/>
            <a:ext cx="285293" cy="285293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276088" y="40233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do administrador e do funcionário</a:t>
            </a:r>
            <a:endParaRPr lang="en-US" sz="1500" dirty="0"/>
          </a:p>
        </p:txBody>
      </p:sp>
      <p:sp>
        <p:nvSpPr>
          <p:cNvPr id="24" name="Text 15"/>
          <p:cNvSpPr/>
          <p:nvPr/>
        </p:nvSpPr>
        <p:spPr>
          <a:xfrm>
            <a:off x="5276088" y="5029200"/>
            <a:ext cx="1231788" cy="292608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o APK</a:t>
            </a:r>
            <a:endParaRPr lang="en-US" sz="1050" dirty="0"/>
          </a:p>
        </p:txBody>
      </p:sp>
      <p:pic>
        <p:nvPicPr>
          <p:cNvPr id="25" name="Image 7" descr="C:/Users/49816471825/AppData/Local/Temp/lockmachine/deck/cards/painel-yellow-229x26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11162" y="2823210"/>
            <a:ext cx="2665476" cy="2994660"/>
          </a:xfrm>
          <a:prstGeom prst="rect">
            <a:avLst/>
          </a:prstGeom>
        </p:spPr>
      </p:pic>
      <p:sp>
        <p:nvSpPr>
          <p:cNvPr id="26" name="Shape 16"/>
          <p:cNvSpPr/>
          <p:nvPr/>
        </p:nvSpPr>
        <p:spPr>
          <a:xfrm>
            <a:off x="7525512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7525512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28" name="Image 8" descr="C:/Users/49816471825/AppData/Local/Temp/lockmachine/deck/icones/chip-FFD23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57186" y="3469234"/>
            <a:ext cx="285293" cy="285293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7525512" y="40233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Leitora RFID na máquina</a:t>
            </a:r>
            <a:endParaRPr lang="en-US" sz="1500" dirty="0"/>
          </a:p>
        </p:txBody>
      </p:sp>
      <p:sp>
        <p:nvSpPr>
          <p:cNvPr id="30" name="Text 19"/>
          <p:cNvSpPr/>
          <p:nvPr/>
        </p:nvSpPr>
        <p:spPr>
          <a:xfrm>
            <a:off x="7525512" y="5029200"/>
            <a:ext cx="1625437" cy="292608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Firmware escrito</a:t>
            </a:r>
            <a:endParaRPr lang="en-US" sz="1050" dirty="0"/>
          </a:p>
        </p:txBody>
      </p:sp>
      <p:pic>
        <p:nvPicPr>
          <p:cNvPr id="31" name="Image 9" descr="C:/Users/49816471825/AppData/Local/Temp/lockmachine/deck/cards/painel-steel-229x26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60586" y="2823210"/>
            <a:ext cx="2665476" cy="2994660"/>
          </a:xfrm>
          <a:prstGeom prst="rect">
            <a:avLst/>
          </a:prstGeom>
        </p:spPr>
      </p:pic>
      <p:sp>
        <p:nvSpPr>
          <p:cNvPr id="32" name="Shape 20"/>
          <p:cNvSpPr/>
          <p:nvPr/>
        </p:nvSpPr>
        <p:spPr>
          <a:xfrm>
            <a:off x="9774936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33" name="Shape 21"/>
          <p:cNvSpPr/>
          <p:nvPr/>
        </p:nvSpPr>
        <p:spPr>
          <a:xfrm>
            <a:off x="9774936" y="33375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8B91A6">
              <a:alpha val="12000"/>
            </a:srgbClr>
          </a:solidFill>
          <a:ln/>
        </p:spPr>
      </p:sp>
      <p:pic>
        <p:nvPicPr>
          <p:cNvPr id="34" name="Image 10" descr="C:/Users/49816471825/AppData/Local/Temp/lockmachine/deck/icones/files-A6ACC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06610" y="3469234"/>
            <a:ext cx="285293" cy="285293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9774936" y="40233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e evidências</a:t>
            </a:r>
            <a:endParaRPr lang="en-US" sz="1500" dirty="0"/>
          </a:p>
        </p:txBody>
      </p:sp>
      <p:sp>
        <p:nvSpPr>
          <p:cNvPr id="36" name="Text 23"/>
          <p:cNvSpPr/>
          <p:nvPr/>
        </p:nvSpPr>
        <p:spPr>
          <a:xfrm>
            <a:off x="9774936" y="5029200"/>
            <a:ext cx="995599" cy="292608"/>
          </a:xfrm>
          <a:prstGeom prst="roundRect">
            <a:avLst>
              <a:gd name="adj" fmla="val 50000"/>
            </a:avLst>
          </a:prstGeom>
          <a:solidFill>
            <a:srgbClr val="FF3D2E">
              <a:alpha val="18000"/>
            </a:srgbClr>
          </a:solidFill>
          <a:ln w="9525">
            <a:solidFill>
              <a:srgbClr val="FF3D2E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Pendente</a:t>
            </a:r>
            <a:endParaRPr lang="en-US" sz="105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Público-alvo e requisitos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perfis usam a solução.</a:t>
            </a:r>
            <a:endParaRPr lang="en-US" sz="1700" dirty="0"/>
          </a:p>
        </p:txBody>
      </p:sp>
      <p:pic>
        <p:nvPicPr>
          <p:cNvPr id="4" name="Image 0" descr="C:/Users/49816471825/AppData/Local/Temp/lockmachine/deck/cards/painel-cobalt-383x2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90" y="1634490"/>
            <a:ext cx="4073652" cy="29489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2176272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176272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2F45FF">
              <a:alpha val="12000"/>
            </a:srgbClr>
          </a:solidFill>
          <a:ln/>
        </p:spPr>
      </p:sp>
      <p:pic>
        <p:nvPicPr>
          <p:cNvPr id="7" name="Image 1" descr="C:/Users/49816471825/AppData/Local/Temp/lockmachine/deck/icones/users-8C9B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023" y="23123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21488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libera as máquinas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0632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 pessoas, máquinas e treinamentos e acompanha tudo pelo painel.</a:t>
            </a:r>
            <a:endParaRPr lang="en-US" sz="1500" dirty="0"/>
          </a:p>
        </p:txBody>
      </p:sp>
      <p:pic>
        <p:nvPicPr>
          <p:cNvPr id="10" name="Image 2" descr="C:/Users/49816471825/AppData/Local/Temp/lockmachine/deck/cards/painel-green-383x2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650" y="1634490"/>
            <a:ext cx="4073652" cy="294894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617720" y="2176272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617720" y="2176272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22D07B">
              <a:alpha val="12000"/>
            </a:srgbClr>
          </a:solidFill>
          <a:ln/>
        </p:spPr>
      </p:sp>
      <p:pic>
        <p:nvPicPr>
          <p:cNvPr id="13" name="Image 3" descr="C:/Users/49816471825/AppData/Local/Temp/lockmachine/deck/icones/user-22D07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3783" y="2312335"/>
            <a:ext cx="294803" cy="294803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349240" y="21488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Funcionário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opera a máquina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4617720" y="30632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as próprias capacitações e onde está liberado.</a:t>
            </a:r>
            <a:endParaRPr lang="en-US" sz="1500" dirty="0"/>
          </a:p>
        </p:txBody>
      </p:sp>
      <p:pic>
        <p:nvPicPr>
          <p:cNvPr id="16" name="Image 4" descr="C:/Users/49816471825/AppData/Local/Temp/lockmachine/deck/cards/painel-yellow-383x26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2410" y="1634490"/>
            <a:ext cx="4073652" cy="294894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8412480" y="2176272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8412480" y="2176272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19" name="Image 5" descr="C:/Users/49816471825/AppData/Local/Temp/lockmachine/deck/icones/chip-FFD23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48543" y="2312335"/>
            <a:ext cx="294803" cy="294803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9144000" y="21488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Leitora RFID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instalada na máquina</a:t>
            </a:r>
            <a:endParaRPr lang="en-US" sz="1400" dirty="0"/>
          </a:p>
        </p:txBody>
      </p:sp>
      <p:sp>
        <p:nvSpPr>
          <p:cNvPr id="21" name="Text 13"/>
          <p:cNvSpPr txBox="1"/>
          <p:nvPr/>
        </p:nvSpPr>
        <p:spPr>
          <a:xfrm>
            <a:off x="8412480" y="30632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cartão e mostra se libera ou bloqueia.</a:t>
            </a:r>
            <a:endParaRPr lang="en-US" sz="1500" dirty="0"/>
          </a:p>
        </p:txBody>
      </p:sp>
      <p:pic>
        <p:nvPicPr>
          <p:cNvPr id="22" name="Image 6" descr="C:/Users/49816471825/AppData/Local/Temp/lockmachine/deck/cards/painel2-x-1213x15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2890" y="4240530"/>
            <a:ext cx="11663172" cy="194310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822960" y="4526280"/>
            <a:ext cx="914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4600" dirty="0"/>
          </a:p>
        </p:txBody>
      </p:sp>
      <p:sp>
        <p:nvSpPr>
          <p:cNvPr id="24" name="Text 15"/>
          <p:cNvSpPr txBox="1"/>
          <p:nvPr/>
        </p:nvSpPr>
        <p:spPr>
          <a:xfrm>
            <a:off x="1783080" y="45262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 funcionais</a:t>
            </a:r>
            <a:endParaRPr lang="en-US" sz="1600" dirty="0"/>
          </a:p>
        </p:txBody>
      </p:sp>
      <p:sp>
        <p:nvSpPr>
          <p:cNvPr id="25" name="Text 16"/>
          <p:cNvSpPr txBox="1"/>
          <p:nvPr/>
        </p:nvSpPr>
        <p:spPr>
          <a:xfrm>
            <a:off x="4526280" y="4526280"/>
            <a:ext cx="914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8C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600" dirty="0"/>
          </a:p>
        </p:txBody>
      </p:sp>
      <p:sp>
        <p:nvSpPr>
          <p:cNvPr id="26" name="Text 17"/>
          <p:cNvSpPr txBox="1"/>
          <p:nvPr/>
        </p:nvSpPr>
        <p:spPr>
          <a:xfrm>
            <a:off x="5135563" y="45262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 não funcionais</a:t>
            </a:r>
            <a:endParaRPr lang="en-US" sz="1600" dirty="0"/>
          </a:p>
        </p:txBody>
      </p:sp>
      <p:sp>
        <p:nvSpPr>
          <p:cNvPr id="27" name="Shape 18"/>
          <p:cNvSpPr/>
          <p:nvPr/>
        </p:nvSpPr>
        <p:spPr>
          <a:xfrm>
            <a:off x="8229600" y="4956048"/>
            <a:ext cx="502920" cy="50292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28" name="Shape 19"/>
          <p:cNvSpPr/>
          <p:nvPr/>
        </p:nvSpPr>
        <p:spPr>
          <a:xfrm>
            <a:off x="8229600" y="4956048"/>
            <a:ext cx="502920" cy="502920"/>
          </a:xfrm>
          <a:prstGeom prst="roundRect">
            <a:avLst>
              <a:gd name="adj" fmla="val 28000"/>
            </a:avLst>
          </a:prstGeom>
          <a:solidFill>
            <a:srgbClr val="22D07B">
              <a:alpha val="12000"/>
            </a:srgbClr>
          </a:solidFill>
          <a:ln/>
        </p:spPr>
      </p:sp>
      <p:pic>
        <p:nvPicPr>
          <p:cNvPr id="29" name="Image 7" descr="C:/Users/49816471825/AppData/Local/Temp/lockmachine/deck/icones/check-22D07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50301" y="5076749"/>
            <a:ext cx="261518" cy="261518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8869680" y="452628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 com critério de aceitação</a:t>
            </a:r>
            <a:endParaRPr lang="en-US" sz="16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e tecnologias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Scrum adaptado à escola: entregas pequenas, revisadas pela equipe, com o código versionado no GitHub.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</a:t>
            </a:r>
            <a:endParaRPr lang="en-US" sz="1000" dirty="0"/>
          </a:p>
        </p:txBody>
      </p:sp>
      <p:pic>
        <p:nvPicPr>
          <p:cNvPr id="5" name="Image 0" descr="C:/Users/49816471825/AppData/Local/Temp/lockmachine/deck/cards/painel-cobalt-229x1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90" y="2000250"/>
            <a:ext cx="2665476" cy="19888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2468880"/>
            <a:ext cx="512064" cy="512064"/>
          </a:xfrm>
          <a:prstGeom prst="ellipse">
            <a:avLst/>
          </a:prstGeom>
          <a:solidFill>
            <a:srgbClr val="2F45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LK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Leonardo Kronka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Owner · Full-stack</a:t>
            </a:r>
            <a:endParaRPr lang="en-US" sz="1100" dirty="0"/>
          </a:p>
        </p:txBody>
      </p:sp>
      <p:pic>
        <p:nvPicPr>
          <p:cNvPr id="9" name="Image 1" descr="C:/Users/49816471825/AppData/Local/Temp/lockmachine/deck/cards/painel-red-229x1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2314" y="2000250"/>
            <a:ext cx="2665476" cy="19888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999232" y="2468880"/>
            <a:ext cx="512064" cy="512064"/>
          </a:xfrm>
          <a:prstGeom prst="ellipse">
            <a:avLst/>
          </a:prstGeom>
          <a:solidFill>
            <a:srgbClr val="FF3D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999232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Cauê Henrique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2999232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Scrum Master · Back-end</a:t>
            </a:r>
            <a:endParaRPr lang="en-US" sz="1100" dirty="0"/>
          </a:p>
        </p:txBody>
      </p:sp>
      <p:pic>
        <p:nvPicPr>
          <p:cNvPr id="13" name="Image 2" descr="C:/Users/49816471825/AppData/Local/Temp/lockmachine/deck/cards/painel-green-229x15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1738" y="2000250"/>
            <a:ext cx="2665476" cy="19888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248656" y="2468880"/>
            <a:ext cx="512064" cy="512064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248656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Evelyn Caporali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5248656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Front-end</a:t>
            </a:r>
            <a:endParaRPr lang="en-US" sz="1100" dirty="0"/>
          </a:p>
        </p:txBody>
      </p:sp>
      <p:pic>
        <p:nvPicPr>
          <p:cNvPr id="17" name="Image 3" descr="C:/Users/49816471825/AppData/Local/Temp/lockmachine/deck/cards/painel-x-229x15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1162" y="2000250"/>
            <a:ext cx="2665476" cy="19888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498080" y="2468880"/>
            <a:ext cx="512064" cy="512064"/>
          </a:xfrm>
          <a:prstGeom prst="ellipse">
            <a:avLst/>
          </a:prstGeom>
          <a:solidFill>
            <a:srgbClr val="1C212D"/>
          </a:solidFill>
          <a:ln w="9525">
            <a:solidFill>
              <a:srgbClr val="3A3F4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JV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0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João Victor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7498080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1100" dirty="0"/>
          </a:p>
        </p:txBody>
      </p:sp>
      <p:pic>
        <p:nvPicPr>
          <p:cNvPr id="21" name="Image 4" descr="C:/Users/49816471825/AppData/Local/Temp/lockmachine/deck/cards/painel-yellow-229x15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0586" y="2000250"/>
            <a:ext cx="2665476" cy="19888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747504" y="2468880"/>
            <a:ext cx="512064" cy="512064"/>
          </a:xfrm>
          <a:prstGeom prst="ellipse">
            <a:avLst/>
          </a:prstGeom>
          <a:solidFill>
            <a:srgbClr val="FFD23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9747504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 Miranda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747504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Documentação</a:t>
            </a:r>
            <a:endParaRPr lang="en-US" sz="110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40233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TECNOLOGIAS</a:t>
            </a:r>
            <a:endParaRPr lang="en-US" sz="1000" dirty="0"/>
          </a:p>
        </p:txBody>
      </p:sp>
      <p:pic>
        <p:nvPicPr>
          <p:cNvPr id="26" name="Image 5" descr="C:/Users/49816471825/AppData/Local/Temp/lockmachine/deck/cards/painel-cobalt-229x11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2890" y="4011930"/>
            <a:ext cx="2665476" cy="157734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749808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749808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2F45FF">
              <a:alpha val="12000"/>
            </a:srgbClr>
          </a:solidFill>
          <a:ln/>
        </p:spPr>
      </p:sp>
      <p:pic>
        <p:nvPicPr>
          <p:cNvPr id="29" name="Image 6" descr="C:/Users/49816471825/AppData/Local/Temp/lockmachine/deck/icones/browser-8C9B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2703" y="4667463"/>
            <a:ext cx="266273" cy="266273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389888" y="429768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e app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HTML, CSS e JS</a:t>
            </a:r>
            <a:endParaRPr lang="en-US" sz="1400" dirty="0"/>
          </a:p>
        </p:txBody>
      </p:sp>
      <p:pic>
        <p:nvPicPr>
          <p:cNvPr id="31" name="Image 7" descr="C:/Users/49816471825/AppData/Local/Temp/lockmachine/deck/cards/painel-red-229x1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12314" y="4011930"/>
            <a:ext cx="2665476" cy="1577340"/>
          </a:xfrm>
          <a:prstGeom prst="rect">
            <a:avLst/>
          </a:prstGeom>
        </p:spPr>
      </p:pic>
      <p:sp>
        <p:nvSpPr>
          <p:cNvPr id="32" name="Shape 22"/>
          <p:cNvSpPr/>
          <p:nvPr/>
        </p:nvSpPr>
        <p:spPr>
          <a:xfrm>
            <a:off x="2999232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2999232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FF3D2E">
              <a:alpha val="12000"/>
            </a:srgbClr>
          </a:solidFill>
          <a:ln/>
        </p:spPr>
      </p:sp>
      <p:pic>
        <p:nvPicPr>
          <p:cNvPr id="34" name="Image 8" descr="C:/Users/49816471825/AppData/Local/Temp/lockmachine/deck/icones/server-FF7A6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22127" y="4667463"/>
            <a:ext cx="266273" cy="266273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3639312" y="429768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</a:t>
            </a:r>
            <a:endParaRPr lang="en-US" sz="1400" dirty="0"/>
          </a:p>
        </p:txBody>
      </p:sp>
      <p:pic>
        <p:nvPicPr>
          <p:cNvPr id="36" name="Image 9" descr="C:/Users/49816471825/AppData/Local/Temp/lockmachine/deck/cards/painel-green-229x11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61738" y="4011930"/>
            <a:ext cx="2665476" cy="1577340"/>
          </a:xfrm>
          <a:prstGeom prst="rect">
            <a:avLst/>
          </a:prstGeom>
        </p:spPr>
      </p:pic>
      <p:sp>
        <p:nvSpPr>
          <p:cNvPr id="37" name="Shape 25"/>
          <p:cNvSpPr/>
          <p:nvPr/>
        </p:nvSpPr>
        <p:spPr>
          <a:xfrm>
            <a:off x="5248656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38" name="Shape 26"/>
          <p:cNvSpPr/>
          <p:nvPr/>
        </p:nvSpPr>
        <p:spPr>
          <a:xfrm>
            <a:off x="5248656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22D07B">
              <a:alpha val="12000"/>
            </a:srgbClr>
          </a:solidFill>
          <a:ln/>
        </p:spPr>
      </p:sp>
      <p:pic>
        <p:nvPicPr>
          <p:cNvPr id="39" name="Image 10" descr="C:/Users/49816471825/AppData/Local/Temp/lockmachine/deck/icones/db-22D07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71551" y="4667463"/>
            <a:ext cx="266273" cy="266273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888736" y="429768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</a:t>
            </a:r>
            <a:endParaRPr lang="en-US" sz="1400" dirty="0"/>
          </a:p>
        </p:txBody>
      </p:sp>
      <p:pic>
        <p:nvPicPr>
          <p:cNvPr id="41" name="Image 11" descr="C:/Users/49816471825/AppData/Local/Temp/lockmachine/deck/cards/painel-yellow-229x110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11162" y="4011930"/>
            <a:ext cx="2665476" cy="1577340"/>
          </a:xfrm>
          <a:prstGeom prst="rect">
            <a:avLst/>
          </a:prstGeom>
        </p:spPr>
      </p:pic>
      <p:sp>
        <p:nvSpPr>
          <p:cNvPr id="42" name="Shape 28"/>
          <p:cNvSpPr/>
          <p:nvPr/>
        </p:nvSpPr>
        <p:spPr>
          <a:xfrm>
            <a:off x="7498080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43" name="Shape 29"/>
          <p:cNvSpPr/>
          <p:nvPr/>
        </p:nvSpPr>
        <p:spPr>
          <a:xfrm>
            <a:off x="7498080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44" name="Image 12" descr="C:/Users/49816471825/AppData/Local/Temp/lockmachine/deck/icones/chip-FFD23F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0975" y="4667463"/>
            <a:ext cx="266273" cy="266273"/>
          </a:xfrm>
          <a:prstGeom prst="rect">
            <a:avLst/>
          </a:prstGeom>
        </p:spPr>
      </p:pic>
      <p:sp>
        <p:nvSpPr>
          <p:cNvPr id="45" name="Text 30"/>
          <p:cNvSpPr txBox="1"/>
          <p:nvPr/>
        </p:nvSpPr>
        <p:spPr>
          <a:xfrm>
            <a:off x="8138160" y="429768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Leitora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 + RFID</a:t>
            </a:r>
            <a:endParaRPr lang="en-US" sz="1400" dirty="0"/>
          </a:p>
        </p:txBody>
      </p:sp>
      <p:pic>
        <p:nvPicPr>
          <p:cNvPr id="46" name="Image 13" descr="C:/Users/49816471825/AppData/Local/Temp/lockmachine/deck/cards/painel-steel-229x11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60586" y="4011930"/>
            <a:ext cx="2665476" cy="1577340"/>
          </a:xfrm>
          <a:prstGeom prst="rect">
            <a:avLst/>
          </a:prstGeom>
        </p:spPr>
      </p:pic>
      <p:sp>
        <p:nvSpPr>
          <p:cNvPr id="47" name="Shape 31"/>
          <p:cNvSpPr/>
          <p:nvPr/>
        </p:nvSpPr>
        <p:spPr>
          <a:xfrm>
            <a:off x="9747504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48" name="Shape 32"/>
          <p:cNvSpPr/>
          <p:nvPr/>
        </p:nvSpPr>
        <p:spPr>
          <a:xfrm>
            <a:off x="9747504" y="454456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8B91A6">
              <a:alpha val="12000"/>
            </a:srgbClr>
          </a:solidFill>
          <a:ln/>
        </p:spPr>
      </p:sp>
      <p:pic>
        <p:nvPicPr>
          <p:cNvPr id="49" name="Image 14" descr="C:/Users/49816471825/AppData/Local/Temp/lockmachine/deck/icones/files-A6ACC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70399" y="4667463"/>
            <a:ext cx="266273" cy="266273"/>
          </a:xfrm>
          <a:prstGeom prst="rect">
            <a:avLst/>
          </a:prstGeom>
        </p:spPr>
      </p:pic>
      <p:sp>
        <p:nvSpPr>
          <p:cNvPr id="50" name="Text 33"/>
          <p:cNvSpPr txBox="1"/>
          <p:nvPr/>
        </p:nvSpPr>
        <p:spPr>
          <a:xfrm>
            <a:off x="10387584" y="429768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Versões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solução funciona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cartão só identifica. Quem decide é o servidor.</a:t>
            </a:r>
            <a:endParaRPr lang="en-US" sz="1700" dirty="0"/>
          </a:p>
        </p:txBody>
      </p:sp>
      <p:pic>
        <p:nvPicPr>
          <p:cNvPr id="4" name="Image 0" descr="C:/Users/49816471825/AppData/Local/Temp/lockmachine/deck/cards/painel-cobalt-340x1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90" y="1680210"/>
            <a:ext cx="3680460" cy="19888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04672" y="222199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4672" y="222199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2F45FF">
              <a:alpha val="12000"/>
            </a:srgbClr>
          </a:solidFill>
          <a:ln/>
        </p:spPr>
      </p:sp>
      <p:pic>
        <p:nvPicPr>
          <p:cNvPr id="7" name="Image 1" descr="C:/Users/49816471825/AppData/Local/Temp/lockmachine/deck/icones/browser-8C9B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567" y="2344887"/>
            <a:ext cx="266273" cy="26627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222199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8803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 e funcionário</a:t>
            </a:r>
            <a:endParaRPr lang="en-US" sz="1400" dirty="0"/>
          </a:p>
        </p:txBody>
      </p:sp>
      <p:pic>
        <p:nvPicPr>
          <p:cNvPr id="10" name="Image 2" descr="C:/Users/49816471825/AppData/Local/Temp/lockmachine/deck/cards/painel-red-340x15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246" y="1680210"/>
            <a:ext cx="3680460" cy="198882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796028" y="222199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796028" y="222199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FF3D2E">
              <a:alpha val="12000"/>
            </a:srgbClr>
          </a:solidFill>
          <a:ln/>
        </p:spPr>
      </p:sp>
      <p:pic>
        <p:nvPicPr>
          <p:cNvPr id="13" name="Image 3" descr="C:/Users/49816471825/AppData/Local/Temp/lockmachine/deck/icones/server-FF7A6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8923" y="2344887"/>
            <a:ext cx="266273" cy="266273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454396" y="222199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</a:t>
            </a:r>
            <a:endParaRPr lang="en-US" sz="1900" dirty="0"/>
          </a:p>
        </p:txBody>
      </p:sp>
      <p:sp>
        <p:nvSpPr>
          <p:cNvPr id="15" name="Text 9"/>
          <p:cNvSpPr txBox="1"/>
          <p:nvPr/>
        </p:nvSpPr>
        <p:spPr>
          <a:xfrm>
            <a:off x="4796028" y="28803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 a regra de acesso</a:t>
            </a:r>
            <a:endParaRPr lang="en-US" sz="1400" dirty="0"/>
          </a:p>
        </p:txBody>
      </p:sp>
      <p:pic>
        <p:nvPicPr>
          <p:cNvPr id="16" name="Image 4" descr="C:/Users/49816471825/AppData/Local/Temp/lockmachine/deck/cards/painel-green-340x15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5602" y="1680210"/>
            <a:ext cx="3680460" cy="198882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8787384" y="222199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8787384" y="222199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22D07B">
              <a:alpha val="12000"/>
            </a:srgbClr>
          </a:solidFill>
          <a:ln/>
        </p:spPr>
      </p:sp>
      <p:pic>
        <p:nvPicPr>
          <p:cNvPr id="19" name="Image 5" descr="C:/Users/49816471825/AppData/Local/Temp/lockmachine/deck/icones/db-22D07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0279" y="2344887"/>
            <a:ext cx="266273" cy="266273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9445752" y="222199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</a:t>
            </a:r>
            <a:endParaRPr lang="en-US" sz="1900" dirty="0"/>
          </a:p>
        </p:txBody>
      </p:sp>
      <p:sp>
        <p:nvSpPr>
          <p:cNvPr id="21" name="Text 13"/>
          <p:cNvSpPr txBox="1"/>
          <p:nvPr/>
        </p:nvSpPr>
        <p:spPr>
          <a:xfrm>
            <a:off x="8787384" y="28803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cadastros e histórico</a:t>
            </a:r>
            <a:endParaRPr lang="en-US" sz="1400" dirty="0"/>
          </a:p>
        </p:txBody>
      </p:sp>
      <p:pic>
        <p:nvPicPr>
          <p:cNvPr id="22" name="Image 6" descr="C:/Users/49816471825/AppData/Local/Temp/lockmachine/deck/cards/painel-yellow-340x15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4246" y="3829050"/>
            <a:ext cx="3680460" cy="1988820"/>
          </a:xfrm>
          <a:prstGeom prst="rect">
            <a:avLst/>
          </a:prstGeom>
        </p:spPr>
      </p:pic>
      <p:sp>
        <p:nvSpPr>
          <p:cNvPr id="23" name="Shape 14"/>
          <p:cNvSpPr/>
          <p:nvPr/>
        </p:nvSpPr>
        <p:spPr>
          <a:xfrm>
            <a:off x="4796028" y="437083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24" name="Shape 15"/>
          <p:cNvSpPr/>
          <p:nvPr/>
        </p:nvSpPr>
        <p:spPr>
          <a:xfrm>
            <a:off x="4796028" y="437083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25" name="Image 7" descr="C:/Users/49816471825/AppData/Local/Temp/lockmachine/deck/icones/chip-FFD23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18923" y="4493727"/>
            <a:ext cx="266273" cy="266273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454396" y="437083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Leitora</a:t>
            </a:r>
            <a:endParaRPr lang="en-US" sz="1900" dirty="0"/>
          </a:p>
        </p:txBody>
      </p:sp>
      <p:sp>
        <p:nvSpPr>
          <p:cNvPr id="27" name="Text 17"/>
          <p:cNvSpPr txBox="1"/>
          <p:nvPr/>
        </p:nvSpPr>
        <p:spPr>
          <a:xfrm>
            <a:off x="4796028" y="50292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instalada na máquina</a:t>
            </a:r>
            <a:endParaRPr lang="en-US" sz="1400" dirty="0"/>
          </a:p>
        </p:txBody>
      </p:sp>
      <p:sp>
        <p:nvSpPr>
          <p:cNvPr id="28" name="Shape 18"/>
          <p:cNvSpPr/>
          <p:nvPr/>
        </p:nvSpPr>
        <p:spPr>
          <a:xfrm>
            <a:off x="3657600" y="2674620"/>
            <a:ext cx="882396" cy="0"/>
          </a:xfrm>
          <a:prstGeom prst="line">
            <a:avLst/>
          </a:prstGeom>
          <a:noFill/>
          <a:ln w="114300">
            <a:solidFill>
              <a:srgbClr val="FFD23F">
                <a:alpha val="14000"/>
              </a:srgbClr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3657600" y="2674620"/>
            <a:ext cx="882396" cy="0"/>
          </a:xfrm>
          <a:prstGeom prst="line">
            <a:avLst/>
          </a:prstGeom>
          <a:noFill/>
          <a:ln w="25400">
            <a:solidFill>
              <a:srgbClr val="FFD23F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3961638" y="2537460"/>
            <a:ext cx="274320" cy="274320"/>
          </a:xfrm>
          <a:prstGeom prst="ellipse">
            <a:avLst/>
          </a:prstGeom>
          <a:solidFill>
            <a:srgbClr val="FFD23F">
              <a:alpha val="28000"/>
            </a:srgbClr>
          </a:solidFill>
          <a:ln/>
        </p:spPr>
      </p:sp>
      <p:sp>
        <p:nvSpPr>
          <p:cNvPr id="31" name="Shape 21"/>
          <p:cNvSpPr/>
          <p:nvPr/>
        </p:nvSpPr>
        <p:spPr>
          <a:xfrm>
            <a:off x="4043934" y="2619756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Shape 22"/>
          <p:cNvSpPr/>
          <p:nvPr/>
        </p:nvSpPr>
        <p:spPr>
          <a:xfrm>
            <a:off x="7648956" y="2674620"/>
            <a:ext cx="882396" cy="0"/>
          </a:xfrm>
          <a:prstGeom prst="line">
            <a:avLst/>
          </a:prstGeom>
          <a:noFill/>
          <a:ln w="114300">
            <a:solidFill>
              <a:srgbClr val="FFD23F">
                <a:alpha val="14000"/>
              </a:srgbClr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7648956" y="2674620"/>
            <a:ext cx="882396" cy="0"/>
          </a:xfrm>
          <a:prstGeom prst="line">
            <a:avLst/>
          </a:prstGeom>
          <a:noFill/>
          <a:ln w="25400">
            <a:solidFill>
              <a:srgbClr val="FFD23F"/>
            </a:solidFill>
            <a:prstDash val="solid"/>
          </a:ln>
        </p:spPr>
      </p:sp>
      <p:sp>
        <p:nvSpPr>
          <p:cNvPr id="34" name="Shape 24"/>
          <p:cNvSpPr/>
          <p:nvPr/>
        </p:nvSpPr>
        <p:spPr>
          <a:xfrm>
            <a:off x="7952994" y="2537460"/>
            <a:ext cx="274320" cy="274320"/>
          </a:xfrm>
          <a:prstGeom prst="ellipse">
            <a:avLst/>
          </a:prstGeom>
          <a:solidFill>
            <a:srgbClr val="FFD23F">
              <a:alpha val="28000"/>
            </a:srgbClr>
          </a:solidFill>
          <a:ln/>
        </p:spPr>
      </p:sp>
      <p:sp>
        <p:nvSpPr>
          <p:cNvPr id="35" name="Shape 25"/>
          <p:cNvSpPr/>
          <p:nvPr/>
        </p:nvSpPr>
        <p:spPr>
          <a:xfrm>
            <a:off x="8035290" y="2619756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Shape 26"/>
          <p:cNvSpPr/>
          <p:nvPr/>
        </p:nvSpPr>
        <p:spPr>
          <a:xfrm>
            <a:off x="6094476" y="3383280"/>
            <a:ext cx="0" cy="731520"/>
          </a:xfrm>
          <a:prstGeom prst="line">
            <a:avLst/>
          </a:prstGeom>
          <a:noFill/>
          <a:ln w="114300">
            <a:solidFill>
              <a:srgbClr val="FFD23F">
                <a:alpha val="14000"/>
              </a:srgbClr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094476" y="3383280"/>
            <a:ext cx="0" cy="731520"/>
          </a:xfrm>
          <a:prstGeom prst="line">
            <a:avLst/>
          </a:prstGeom>
          <a:noFill/>
          <a:ln w="25400">
            <a:solidFill>
              <a:srgbClr val="FFD23F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5957316" y="3611880"/>
            <a:ext cx="274320" cy="274320"/>
          </a:xfrm>
          <a:prstGeom prst="ellipse">
            <a:avLst/>
          </a:prstGeom>
          <a:solidFill>
            <a:srgbClr val="FFD23F">
              <a:alpha val="28000"/>
            </a:srgbClr>
          </a:solidFill>
          <a:ln/>
        </p:spPr>
      </p:sp>
      <p:sp>
        <p:nvSpPr>
          <p:cNvPr id="39" name="Shape 29"/>
          <p:cNvSpPr/>
          <p:nvPr/>
        </p:nvSpPr>
        <p:spPr>
          <a:xfrm>
            <a:off x="6039612" y="3694176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0"/>
          <p:cNvSpPr txBox="1"/>
          <p:nvPr/>
        </p:nvSpPr>
        <p:spPr>
          <a:xfrm>
            <a:off x="6355080" y="3474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cartão + máquina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resposta: libera ou bloqueia</a:t>
            </a:r>
            <a:endParaRPr lang="en-US" sz="1100" dirty="0"/>
          </a:p>
        </p:txBody>
      </p:sp>
      <p:pic>
        <p:nvPicPr>
          <p:cNvPr id="41" name="Image 8" descr="C:/Users/49816471825/AppData/Local/Temp/lockmachine/deck/cards/papel-x-220x11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240000">
            <a:off x="1314450" y="4030218"/>
            <a:ext cx="2583180" cy="1595628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 rot="-240000">
            <a:off x="1600200" y="4315968"/>
            <a:ext cx="2011680" cy="1024128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Cartão RFID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4A50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operador</a:t>
            </a:r>
            <a:endParaRPr lang="en-US" sz="1400" dirty="0"/>
          </a:p>
        </p:txBody>
      </p:sp>
      <p:pic>
        <p:nvPicPr>
          <p:cNvPr id="43" name="Image 9" descr="C:/Users/49816471825/AppData/Local/Temp/lockmachine/deck/icones/waves-FFD23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40480" y="4617720"/>
            <a:ext cx="457200" cy="457200"/>
          </a:xfrm>
          <a:prstGeom prst="rect">
            <a:avLst/>
          </a:prstGeom>
        </p:spPr>
      </p:pic>
      <p:pic>
        <p:nvPicPr>
          <p:cNvPr id="44" name="Image 10" descr="C:/Users/49816471825/AppData/Local/Temp/lockmachine/deck/cards/painel-red-340x15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5602" y="3829050"/>
            <a:ext cx="3680460" cy="1988820"/>
          </a:xfrm>
          <a:prstGeom prst="rect">
            <a:avLst/>
          </a:prstGeom>
        </p:spPr>
      </p:pic>
      <p:sp>
        <p:nvSpPr>
          <p:cNvPr id="45" name="Shape 32"/>
          <p:cNvSpPr/>
          <p:nvPr/>
        </p:nvSpPr>
        <p:spPr>
          <a:xfrm>
            <a:off x="8787384" y="437083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46" name="Shape 33"/>
          <p:cNvSpPr/>
          <p:nvPr/>
        </p:nvSpPr>
        <p:spPr>
          <a:xfrm>
            <a:off x="8787384" y="437083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FF3D2E">
              <a:alpha val="12000"/>
            </a:srgbClr>
          </a:solidFill>
          <a:ln/>
        </p:spPr>
      </p:sp>
      <p:pic>
        <p:nvPicPr>
          <p:cNvPr id="47" name="Image 11" descr="C:/Users/49816471825/AppData/Local/Temp/lockmachine/deck/icones/lock-FF7A6F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10279" y="4493727"/>
            <a:ext cx="266273" cy="266273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9445752" y="4370832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dúvida, bloqueia</a:t>
            </a:r>
            <a:endParaRPr lang="en-US" sz="1600" dirty="0"/>
          </a:p>
        </p:txBody>
      </p:sp>
      <p:sp>
        <p:nvSpPr>
          <p:cNvPr id="49" name="Text 35"/>
          <p:cNvSpPr txBox="1"/>
          <p:nvPr/>
        </p:nvSpPr>
        <p:spPr>
          <a:xfrm>
            <a:off x="8787384" y="49834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resposta do servidor, a máquina não libera.</a:t>
            </a:r>
            <a:endParaRPr lang="en-US" sz="1300" dirty="0"/>
          </a:p>
        </p:txBody>
      </p:sp>
      <p:sp>
        <p:nvSpPr>
          <p:cNvPr id="50" name="Shape 36"/>
          <p:cNvSpPr/>
          <p:nvPr/>
        </p:nvSpPr>
        <p:spPr>
          <a:xfrm>
            <a:off x="548640" y="571500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51" name="Shape 37"/>
          <p:cNvSpPr/>
          <p:nvPr/>
        </p:nvSpPr>
        <p:spPr>
          <a:xfrm>
            <a:off x="548640" y="571500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22D07B">
              <a:alpha val="12000"/>
            </a:srgbClr>
          </a:solidFill>
          <a:ln/>
        </p:spPr>
      </p:sp>
      <p:pic>
        <p:nvPicPr>
          <p:cNvPr id="52" name="Image 12" descr="C:/Users/49816471825/AppData/Local/Temp/lockmachine/deck/icones/history-22D07B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2033" y="5798393"/>
            <a:ext cx="180685" cy="180685"/>
          </a:xfrm>
          <a:prstGeom prst="rect">
            <a:avLst/>
          </a:prstGeom>
        </p:spPr>
      </p:pic>
      <p:sp>
        <p:nvSpPr>
          <p:cNvPr id="53" name="Text 38"/>
          <p:cNvSpPr txBox="1"/>
          <p:nvPr/>
        </p:nvSpPr>
        <p:spPr>
          <a:xfrm>
            <a:off x="1024128" y="5687568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fica registrado: liberado ou bloqueado, com o motivo.</a:t>
            </a:r>
            <a:endParaRPr lang="en-US" sz="1400" dirty="0"/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e resultados</a:t>
            </a:r>
            <a:endParaRPr lang="en-US" sz="3200" dirty="0"/>
          </a:p>
        </p:txBody>
      </p:sp>
      <p:pic>
        <p:nvPicPr>
          <p:cNvPr id="3" name="Image 0" descr="C:/Users/49816471825/AppData/Local/Temp/lockmachine/deck/cards/painel2-green-360x4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90" y="1085850"/>
            <a:ext cx="3863340" cy="50977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5544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600" b="1" dirty="0">
                <a:solidFill>
                  <a:srgbClr val="22D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r>
              <a:rPr lang="en-US" sz="2800" b="1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9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prontos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520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funcionando juntos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02920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Continua "MVP em desenvolvimento" até os testes formais.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94683" y="1415491"/>
            <a:ext cx="241402" cy="241402"/>
          </a:xfrm>
          <a:prstGeom prst="ellipse">
            <a:avLst/>
          </a:prstGeom>
          <a:solidFill>
            <a:srgbClr val="22D07B">
              <a:alpha val="20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4171493" y="1492301"/>
            <a:ext cx="109728" cy="109728"/>
          </a:xfrm>
          <a:prstGeom prst="ellipse">
            <a:avLst/>
          </a:prstGeom>
          <a:solidFill>
            <a:srgbClr val="22D07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434840" y="13716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114800" y="18288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629400" y="18288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Simulador do site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144000" y="18288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114800" y="23317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 (API)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629400" y="23317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do administrador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144000" y="23317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do funcionário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094683" y="3015691"/>
            <a:ext cx="241402" cy="241402"/>
          </a:xfrm>
          <a:prstGeom prst="ellipse">
            <a:avLst/>
          </a:prstGeom>
          <a:solidFill>
            <a:srgbClr val="FFD23F">
              <a:alpha val="20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4171493" y="3092501"/>
            <a:ext cx="109728" cy="109728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434840" y="29718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preparação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114800" y="34290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APK Android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629400" y="34290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Leitora RFID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094683" y="4112971"/>
            <a:ext cx="241402" cy="241402"/>
          </a:xfrm>
          <a:prstGeom prst="ellipse">
            <a:avLst/>
          </a:prstGeom>
          <a:solidFill>
            <a:srgbClr val="FF3D2E">
              <a:alpha val="20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4171493" y="4189781"/>
            <a:ext cx="109728" cy="109728"/>
          </a:xfrm>
          <a:prstGeom prst="ellipse">
            <a:avLst/>
          </a:prstGeom>
          <a:solidFill>
            <a:srgbClr val="FF3D2E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434840" y="40690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etapa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114800" y="452628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3D2E">
              <a:alpha val="18000"/>
            </a:srgbClr>
          </a:solidFill>
          <a:ln w="9525">
            <a:solidFill>
              <a:srgbClr val="FF3D2E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formais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114800" y="52578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módulos prontos foram testados no desenvolvimento e já estão no ar em </a:t>
            </a:r>
            <a:r>
              <a:rPr lang="pt-BR" sz="1400" b="1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somoslinkwave.com.br</a:t>
            </a:r>
            <a:r>
              <a:rPr lang="pt-BR" sz="140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Os testes formais, com evidências, vêm a seguir.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 e próximos passos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417320" y="1874520"/>
            <a:ext cx="9354312" cy="0"/>
          </a:xfrm>
          <a:prstGeom prst="line">
            <a:avLst/>
          </a:prstGeom>
          <a:noFill/>
          <a:ln w="19050">
            <a:solidFill>
              <a:srgbClr val="3A3F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457200" cy="457200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>
              <a:solidFill>
                <a:srgbClr val="000000"/>
              </a:solidFill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Publicar no servidor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e app no ar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059582" y="1645920"/>
            <a:ext cx="457200" cy="457200"/>
          </a:xfrm>
          <a:prstGeom prst="ellipse">
            <a:avLst/>
          </a:prstGeom>
          <a:solidFill>
            <a:srgbClr val="FFD23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>
              <a:solidFill>
                <a:srgbClr val="000000"/>
              </a:solidFill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2419502" y="2240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Gerar o APK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419502" y="2788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no Android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0445" y="1645920"/>
            <a:ext cx="457200" cy="45720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290365" y="2240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a bancada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0365" y="2788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Leitora com cartões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01307" y="1645920"/>
            <a:ext cx="457200" cy="45720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161227" y="2240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Executar os testes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161227" y="2788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normais e de falha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72170" y="1645920"/>
            <a:ext cx="457200" cy="45720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032090" y="2240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evidências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032090" y="2788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Prints e fotos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543032" y="1645920"/>
            <a:ext cx="457200" cy="45720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902952" y="2240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final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902952" y="2788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Banca, no fim do ano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904134" y="1298448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</a:t>
            </a:r>
            <a:endParaRPr lang="en-US" sz="1050" dirty="0"/>
          </a:p>
        </p:txBody>
      </p:sp>
      <p:pic>
        <p:nvPicPr>
          <p:cNvPr id="23" name="Image 0" descr="C:/Users/49816471825/AppData/Local/Temp/lockmachine/deck/cards/painel2-yellow-1213x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90" y="3371850"/>
            <a:ext cx="11663172" cy="235458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22960" y="3858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Limites do protótipo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22960" y="4434840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2960" y="4434840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27" name="Image 1" descr="C:/Users/49816471825/AppData/Local/Temp/lockmachine/deck/icones/alert-FFD2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299" y="4540179"/>
            <a:ext cx="228234" cy="228234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389888" y="437083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apoio administrativo: não certifica que a operação é segura.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4434840" y="4434840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434840" y="4434840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31" name="Image 2" descr="C:/Users/49816471825/AppData/Local/Temp/lockmachine/deck/icones/alert-FFD2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0179" y="4540179"/>
            <a:ext cx="228234" cy="228234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5001768" y="437083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substitui NR-12, proteções físicas nem intertravamentos.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8046720" y="4434840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046720" y="4434840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35" name="Image 3" descr="C:/Users/49816471825/AppData/Local/Temp/lockmachine/deck/icones/alert-FFD2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2059" y="4540179"/>
            <a:ext cx="228234" cy="228234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8613648" y="437083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Leitora de bancada, sem ligação a uma máquina real.</a:t>
            </a:r>
            <a:endParaRPr lang="en-US" sz="14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38" name="Selo Feito">
            <a:extLst>
              <a:ext uri="{FF2B5EF4-FFF2-40B4-BE49-F238E27FC236}">
                <a16:creationId xmlns:a16="http://schemas.microsoft.com/office/drawing/2014/main" id="{98F999A2-E794-D5FD-3A1F-B182C3349210}"/>
              </a:ext>
            </a:extLst>
          </p:cNvPr>
          <p:cNvSpPr/>
          <p:nvPr/>
        </p:nvSpPr>
        <p:spPr>
          <a:xfrm>
            <a:off x="1033272" y="1298448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Feito</a:t>
            </a:r>
            <a:endParaRPr lang="en-US" sz="1050" dirty="0">
              <a:solidFill>
                <a:srgbClr val="63E6A6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Considerações finais</a:t>
            </a:r>
            <a:endParaRPr lang="en-US" sz="3200" dirty="0"/>
          </a:p>
        </p:txBody>
      </p:sp>
      <p:pic>
        <p:nvPicPr>
          <p:cNvPr id="3" name="Image 0" descr="C:/Users/49816471825/AppData/Local/Temp/lockmachine/deck/cards/painel-red-383x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90" y="1131570"/>
            <a:ext cx="4073652" cy="32232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66420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22960" y="166420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F3D2E">
              <a:alpha val="12000"/>
            </a:srgbClr>
          </a:solidFill>
          <a:ln/>
        </p:spPr>
      </p:sp>
      <p:pic>
        <p:nvPicPr>
          <p:cNvPr id="6" name="Image 1" descr="C:/Users/49816471825/AppData/Local/Temp/lockmachine/deck/icones/x-FF7A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1795882"/>
            <a:ext cx="285293" cy="2852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2395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269748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Capacitações conferidas no papel, sem registro.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078224" y="2743200"/>
            <a:ext cx="237744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pic>
        <p:nvPicPr>
          <p:cNvPr id="10" name="Image 2" descr="C:/Users/49816471825/AppData/Local/Temp/lockmachine/deck/cards/painel-cobalt-383x2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650" y="1131570"/>
            <a:ext cx="4073652" cy="32232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617720" y="166420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617720" y="166420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2F45FF">
              <a:alpha val="12000"/>
            </a:srgbClr>
          </a:solidFill>
          <a:ln/>
        </p:spPr>
      </p:sp>
      <p:pic>
        <p:nvPicPr>
          <p:cNvPr id="13" name="Image 3" descr="C:/Users/49816471825/AppData/Local/Temp/lockmachine/deck/icones/server-8C9B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9394" y="1795882"/>
            <a:ext cx="285293" cy="285293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617720" y="2395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8C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endParaRPr lang="en-US" sz="1000" dirty="0"/>
          </a:p>
        </p:txBody>
      </p:sp>
      <p:sp>
        <p:nvSpPr>
          <p:cNvPr id="15" name="Text 9"/>
          <p:cNvSpPr txBox="1"/>
          <p:nvPr/>
        </p:nvSpPr>
        <p:spPr>
          <a:xfrm>
            <a:off x="4617720" y="269748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cartão identifica, o servidor decide e tudo fica registrado.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7872984" y="2743200"/>
            <a:ext cx="237744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pic>
        <p:nvPicPr>
          <p:cNvPr id="17" name="Image 4" descr="C:/Users/49816471825/AppData/Local/Temp/lockmachine/deck/cards/painel-yellow-383x29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2410" y="1131570"/>
            <a:ext cx="4073652" cy="322326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8412480" y="166420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</p:spPr>
      </p:sp>
      <p:sp>
        <p:nvSpPr>
          <p:cNvPr id="19" name="Shape 12"/>
          <p:cNvSpPr/>
          <p:nvPr/>
        </p:nvSpPr>
        <p:spPr>
          <a:xfrm>
            <a:off x="8412480" y="1664208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FD23F">
              <a:alpha val="12000"/>
            </a:srgbClr>
          </a:solidFill>
          <a:ln/>
        </p:spPr>
      </p:sp>
      <p:pic>
        <p:nvPicPr>
          <p:cNvPr id="20" name="Image 5" descr="C:/Users/49816471825/AppData/Local/Temp/lockmachine/deck/icones/users-FFD23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44154" y="1795882"/>
            <a:ext cx="285293" cy="285293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412480" y="2395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APRENDIZADO</a:t>
            </a:r>
            <a:endParaRPr lang="en-US" sz="1000" dirty="0"/>
          </a:p>
        </p:txBody>
      </p:sp>
      <p:sp>
        <p:nvSpPr>
          <p:cNvPr id="22" name="Text 14"/>
          <p:cNvSpPr txBox="1"/>
          <p:nvPr/>
        </p:nvSpPr>
        <p:spPr>
          <a:xfrm>
            <a:off x="8412480" y="269748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Começar pelo problema e entregar uma parte pequena por vez.</a:t>
            </a:r>
            <a:endParaRPr lang="en-US" sz="1800" dirty="0"/>
          </a:p>
        </p:txBody>
      </p:sp>
      <p:sp>
        <p:nvSpPr>
          <p:cNvPr id="23" name="Text 15"/>
          <p:cNvSpPr txBox="1"/>
          <p:nvPr/>
        </p:nvSpPr>
        <p:spPr>
          <a:xfrm>
            <a:off x="548640" y="45262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capacitação </a:t>
            </a:r>
            <a:r>
              <a:rPr lang="en-US" sz="40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válida</a:t>
            </a:r>
            <a:r>
              <a:rPr lang="en-US" sz="40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sem acesso.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 ao vivo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70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saímos dos slides e mostramos o sistema funcionando, no ar em </a:t>
            </a:r>
            <a:r>
              <a:rPr lang="pt-BR" sz="1700" b="1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somoslinkwave.com.br</a:t>
            </a:r>
            <a:r>
              <a:rPr lang="pt-BR" sz="170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700" dirty="0"/>
          </a:p>
        </p:txBody>
      </p:sp>
      <p:pic>
        <p:nvPicPr>
          <p:cNvPr id="4" name="Image 0" descr="C:/Users/49816471825/AppData/Local/Temp/lockmachine/deck/cards/painel-x-383x4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90" y="1680210"/>
            <a:ext cx="4073652" cy="4503420"/>
          </a:xfrm>
          <a:prstGeom prst="rect">
            <a:avLst/>
          </a:prstGeom>
        </p:spPr>
      </p:pic>
      <p:pic>
        <p:nvPicPr>
          <p:cNvPr id="5" name="Image 1" descr="C:/Users/49816471825/AppData/Local/Temp/lockmachine/deck/slides-img/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148840"/>
            <a:ext cx="3136392" cy="176422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77240" y="41148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4572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da LinkWave e do produto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Simulador da regra de acesso</a:t>
            </a:r>
            <a:endParaRPr lang="en-US" sz="1400" dirty="0"/>
          </a:p>
        </p:txBody>
      </p:sp>
      <p:pic>
        <p:nvPicPr>
          <p:cNvPr id="8" name="Image 2" descr="C:/Users/49816471825/AppData/Local/Temp/lockmachine/deck/cards/painel-x-383x4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650" y="1680210"/>
            <a:ext cx="4073652" cy="4503420"/>
          </a:xfrm>
          <a:prstGeom prst="rect">
            <a:avLst/>
          </a:prstGeom>
        </p:spPr>
      </p:pic>
      <p:pic>
        <p:nvPicPr>
          <p:cNvPr id="9" name="Image 3" descr="C:/Users/49816471825/AppData/Local/Temp/lockmachine/deck/slides-img/pain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2876" y="2148840"/>
            <a:ext cx="2743200" cy="1763486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4572000" y="41148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do administrador</a:t>
            </a:r>
            <a:endParaRPr lang="en-US" sz="1800" dirty="0"/>
          </a:p>
        </p:txBody>
      </p:sp>
      <p:sp>
        <p:nvSpPr>
          <p:cNvPr id="11" name="Text 5"/>
          <p:cNvSpPr txBox="1"/>
          <p:nvPr/>
        </p:nvSpPr>
        <p:spPr>
          <a:xfrm>
            <a:off x="4572000" y="4572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Painel, cadastros e capacitações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Simular leitura e ver o histórico</a:t>
            </a:r>
            <a:endParaRPr lang="en-US" sz="1400" dirty="0"/>
          </a:p>
        </p:txBody>
      </p:sp>
      <p:pic>
        <p:nvPicPr>
          <p:cNvPr id="12" name="Image 4" descr="C:/Users/49816471825/AppData/Local/Temp/lockmachine/deck/cards/painel-x-383x4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410" y="1680210"/>
            <a:ext cx="4073652" cy="4503420"/>
          </a:xfrm>
          <a:prstGeom prst="rect">
            <a:avLst/>
          </a:prstGeom>
        </p:spPr>
      </p:pic>
      <p:pic>
        <p:nvPicPr>
          <p:cNvPr id="13" name="Image 5" descr="C:/Users/49816471825/AppData/Local/Temp/lockmachine/deck/slides-img/cel-inici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312" y="2148840"/>
            <a:ext cx="815484" cy="1764792"/>
          </a:xfrm>
          <a:prstGeom prst="rect">
            <a:avLst/>
          </a:prstGeom>
        </p:spPr>
      </p:pic>
      <p:pic>
        <p:nvPicPr>
          <p:cNvPr id="14" name="Image 6" descr="C:/Users/49816471825/AppData/Local/Temp/lockmachine/deck/slides-img/cel-capacitaco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80676" y="2148840"/>
            <a:ext cx="815484" cy="1764792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8366760" y="41148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do funcionário</a:t>
            </a:r>
            <a:endParaRPr lang="en-US" sz="1800" dirty="0"/>
          </a:p>
        </p:txBody>
      </p:sp>
      <p:sp>
        <p:nvSpPr>
          <p:cNvPr id="16" name="Text 7"/>
          <p:cNvSpPr txBox="1"/>
          <p:nvPr/>
        </p:nvSpPr>
        <p:spPr>
          <a:xfrm>
            <a:off x="8366760" y="4572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celular: capacitações e validade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quais máquinas está liberado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49816471825/AppData/Local/Temp/lockmachine/deck/slides-img/fim-simb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2103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858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Obrigado!</a:t>
            </a:r>
            <a:endParaRPr lang="en-US" sz="60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6916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Perguntas?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2560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LINKWAVE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85800" y="2852928"/>
            <a:ext cx="329184" cy="329184"/>
          </a:xfrm>
          <a:prstGeom prst="ellipse">
            <a:avLst/>
          </a:prstGeom>
          <a:solidFill>
            <a:srgbClr val="2F45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LK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285292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Leonardo Kronka Rodrigues  </a:t>
            </a: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Owner · Full-stack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3291840"/>
            <a:ext cx="329184" cy="329184"/>
          </a:xfrm>
          <a:prstGeom prst="ellipse">
            <a:avLst/>
          </a:prstGeom>
          <a:solidFill>
            <a:srgbClr val="FF3D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29184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Cauê Henrique de Oliveira  </a:t>
            </a: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Scrum Master · Back-end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3730752"/>
            <a:ext cx="329184" cy="329184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37307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Evelyn Caporali Escanavaque  </a:t>
            </a: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Front-end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4169664"/>
            <a:ext cx="329184" cy="329184"/>
          </a:xfrm>
          <a:prstGeom prst="ellipse">
            <a:avLst/>
          </a:prstGeom>
          <a:solidFill>
            <a:srgbClr val="1C212D"/>
          </a:solidFill>
          <a:ln w="9525">
            <a:solidFill>
              <a:srgbClr val="3A3F4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JV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416966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João Victor Monteiro Gamero  </a:t>
            </a: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85800" y="4608576"/>
            <a:ext cx="329184" cy="329184"/>
          </a:xfrm>
          <a:prstGeom prst="ellipse">
            <a:avLst/>
          </a:prstGeom>
          <a:solidFill>
            <a:srgbClr val="FFD23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460857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 Miranda  </a:t>
            </a: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212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468112"/>
            <a:ext cx="5440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NR-12 (Ministério do Trabalho e Emprego) · Lei nº 13.709/2018 (LGPD) · documentação de PHP, MySQL e ESP32 · soluções comparadas: Pilz, Rockwell e Fortress. Lista completa no documento do TCC.</a:t>
            </a:r>
            <a:endParaRPr lang="en-US" sz="1100" dirty="0"/>
          </a:p>
        </p:txBody>
      </p:sp>
      <p:pic>
        <p:nvPicPr>
          <p:cNvPr id="18" name="Image 1" descr="C:/Users/49816471825/Desktop/linkwave-lockmachine/assets/brand/linkwave-horizontal-escu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6263640"/>
            <a:ext cx="1371600" cy="263364"/>
          </a:xfrm>
          <a:prstGeom prst="rect">
            <a:avLst/>
          </a:prstGeom>
        </p:spPr>
      </p:pic>
      <p:pic>
        <p:nvPicPr>
          <p:cNvPr id="19" name="Image 2" descr="C:/Users/49816471825/Desktop/linkwave-lockmachine/assets/brand/lockmachine-horizontal-escu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7440" y="6274613"/>
            <a:ext cx="1600200" cy="2376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inkWave Noite">
  <a:themeElements>
    <a:clrScheme name="LinkWave Noite">
      <a:dk1>
        <a:srgbClr val="06070A"/>
      </a:dk1>
      <a:lt1>
        <a:srgbClr val="ECEEF4"/>
      </a:lt1>
      <a:dk2>
        <a:srgbClr val="0F1219"/>
      </a:dk2>
      <a:lt2>
        <a:srgbClr val="A6ACC0"/>
      </a:lt2>
      <a:accent1>
        <a:srgbClr val="2F45FF"/>
      </a:accent1>
      <a:accent2>
        <a:srgbClr val="FF3D2E"/>
      </a:accent2>
      <a:accent3>
        <a:srgbClr val="FFD23F"/>
      </a:accent3>
      <a:accent4>
        <a:srgbClr val="22D07B"/>
      </a:accent4>
      <a:accent5>
        <a:srgbClr val="8C9BFF"/>
      </a:accent5>
      <a:accent6>
        <a:srgbClr val="8B91A6"/>
      </a:accent6>
      <a:hlink>
        <a:srgbClr val="8C9BFF"/>
      </a:hlink>
      <a:folHlink>
        <a:srgbClr val="A6ACC0"/>
      </a:folHlink>
    </a:clrScheme>
    <a:fontScheme name="LinkWave Noit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2151</Words>
  <Application>Microsoft Office PowerPoint</Application>
  <PresentationFormat>Widescreen</PresentationFormat>
  <Paragraphs>237</Paragraphs>
  <Slides>12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5" baseType="lpstr">
      <vt:lpstr>Arial</vt:lpstr>
      <vt:lpstr>Consolas</vt:lpstr>
      <vt:lpstr>LinkWave Noite</vt:lpstr>
      <vt:lpstr>Apresentação do PowerPoint</vt:lpstr>
      <vt:lpstr>01  Visão geral do projeto</vt:lpstr>
      <vt:lpstr>02  Problema e justificativa</vt:lpstr>
      <vt:lpstr>03  Objetivos</vt:lpstr>
      <vt:lpstr>04  Público-alvo e requisitos</vt:lpstr>
      <vt:lpstr>05  Metodologia e tecnologias</vt:lpstr>
      <vt:lpstr>06  Como a solução funciona</vt:lpstr>
      <vt:lpstr>07  Testes e resultados</vt:lpstr>
      <vt:lpstr>08  Limitações e próximos passos</vt:lpstr>
      <vt:lpstr>09  Considerações finais</vt:lpstr>
      <vt:lpstr>10  Demonstração ao vivo</vt:lpstr>
      <vt:lpstr>Apresentação do PowerPoint</vt:lpstr>
    </vt:vector>
  </TitlesOfParts>
  <Company>LinkWave · SENAI Mococa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LockMachine · Apresentação de andamento</dc:title>
  <dc:subject>PptxGenJS Presentation</dc:subject>
  <dc:creator>Equipe LinkWave</dc:creator>
  <cp:lastModifiedBy>Leonardo Kronka</cp:lastModifiedBy>
  <cp:revision>3</cp:revision>
  <dcterms:created xsi:type="dcterms:W3CDTF">2026-10-28T18:37:13Z</dcterms:created>
  <dcterms:modified xsi:type="dcterms:W3CDTF">2026-10-29T20:20:41Z</dcterms:modified>
</cp:coreProperties>
</file>