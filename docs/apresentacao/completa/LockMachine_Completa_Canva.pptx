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91e55b9-ebd6-0845-a627-58ce4d9c41ac}">
          <p14:sldIdLst>
            <p14:sldId id="256"/>
          </p14:sldIdLst>
        </p14:section>
        <p14:section name="O projeto" id="{3bf8e8fb-070f-262d-be95-dd3461c64950}">
          <p14:sldIdLst>
            <p14:sldId id="257"/>
            <p14:sldId id="258"/>
            <p14:sldId id="259"/>
            <p14:sldId id="260"/>
            <p14:sldId id="261"/>
          </p14:sldIdLst>
        </p14:section>
        <p14:section name="Como fizemos" id="{ed37a60f-ca54-7a76-8214-b762f4090ef6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emonstração" id="{92220248-d066-464e-ac3a-ca001e84d958}">
          <p14:sldIdLst>
            <p14:sldId id="269"/>
            <p14:sldId id="270"/>
          </p14:sldIdLst>
        </p14:section>
        <p14:section name="Andamento" id="{af015750-87b3-6f2f-819e-f0ceb457fedf}">
          <p14:sldIdLst>
            <p14:sldId id="271"/>
            <p14:sldId id="272"/>
            <p14:sldId id="273"/>
          </p14:sldIdLst>
        </p14:section>
        <p14:section name="Encerramento" id="{55b5e87a-33c4-7d68-cfbb-1acaa4e8a847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(abre). Tempo: 40 s.
- Bom dia/boa tarde. Somos a LinkWave, da Turma B do Técnico em Desenvolvimento de Sistemas.
- Apresentem-se rapidamente: cada um fala o nome e a sua frente (PO, Scrum Master, front-end, banco, documentação).
- Nosso TCC é o LockMachine: controle de acesso a máquinas conferindo se o operador tem as capacitações em dia.
- Hoje mostramos o andamento: o que já está pronto, o que estamos fazendo agora e o que falta até a apresentação final.
- Deixe claro desde o início: é um MVP em desenvolvimento, um protótipo acadêmico.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1 min.
- Em uma frase: o cartão só diz QUEM é a pessoa; quem decide se ela pode usar a máquina é o servidor.
- Passo 1: o operador aproxima o cartão na leitora (ESP32 + leitor MFRC522), que manda o código do cartão (UID) pelo Wi-Fi.
- Passo 2: a API em PHP confere no banco se o cadastro está ativo, se a máquina está disponível e se cada treinamento exigido está dentro da validade.
- Passo 3: a resposta volta para a leitora (verde ou vermelho) e a tentativa vai para o histórico, com o motivo.
- Se perguntarem "por que não gravar a permissão no cartão?": porque o cartão pode ser copiado e a validade muda com o tempo; a decisão precisa estar num lugar só, 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1 min.
- Para liberar alguém numa máquina, o responsável precisa de seis informações: cadastro, cartão, treinamento, validade, máquina e o resultado.
- Hoje elas ficam espalhadas: planilha, gaveta, certificado em papel, anotação à mão, pedido verbal. E o resultado nem é registrado.
- Quem sofre: o supervisor (perde tempo conferindo), o operador (depende de alguém achar o papel) e a escola/empresa (não tem histórico numa auditoria).
- Seja honesto: esse cenário está descrito no TCC, mas ainda vamos confirmar com entrevistas reais (instrutores das oficinas e técnicos de segurança). O roteiro está em docs/VALIDACAO_ENTREVISTAS.md.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50 s.
- Por que importa: a NR-12 pede que só pessoas capacitadas operem máquinas. Conferir isso no papel é lento e falha.
- Três ganhos: segurança (confere antes de cada uso), rastreabilidade (tudo fica registrado com motivo) e padronização (a mesma regra para todo mundo).
- Benefícios esperados: ver o que vai vencer antes de vencer, ter histórico para auditoria, e serve tanto para escolas técnicas como o SENAI quanto para empresas.
- IMPORTANTE (o professor exige): o LockMachine é apoio administrativo. Não substitui NR-12, análise de risco, proteções físicas nem intertravamentos. Falem isso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1 min.
- Objetivo geral: um protótipo que libera ou bloqueia o acesso conferindo, no servidor, o cadastro e a validade das capacitações, e registra cada tentativa.
- Os específicos já mostram o andamento: banco e API prontos; app pronto na web (o APK sai depois da publicação); leitora com firmware escrito, falta montar a bancada; testes formais ainda pendentes.
- ATENÇÃO, ANTES DE SEXTA: confiram se o texto do objetivo geral e dos específicos está igual ao do documento do TCC. Se estiver diferente, usem o texto do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Três perfis: o administrador (quem libera e cadastra), o funcionário (quem opera) e a própria leitora RFID, que também "usa" o sistema.
- O que cada um precisa está nos cards. Exemplo: o funcionário quer saber antes de ir para a máquina se o treinamento dele está vencendo.
- Levantamos 12 requisitos funcionais e 7 não funcionais, e cada um tem um critério de aceitação que dá para verificar no teste.
- Essenciais: login por perfil, capacitações com validade, validação pelo cartão com o motivo e o histórico.
- Se perguntarem um requisito não funcional: segurança (senha com hash, sessão protegida), funcionar no celular, rodar na hospedagem da escola, "na dúvida, bloqueia".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 (Scrum Master). Tempo: 1 min.
- Usamos Scrum adaptado à escola: o Leonardo, como PO, cuida do backlog e dos critérios de aceitação; eu acompanho o andamento; cada um pega entregas pequenas que dá para revisar.
- As seis etapas: problema e usuários, requisitos, modelo de dados, back-end, integração e testes.
- As quatro primeiras estão concluídas. A integração está em andamento: telas, API e banco já funcionam juntos, falta ligar a leitora física. Os testes formais são a próxima etapa.
- Divisão: cada um tem uma frente (mostre os crachás), mas todos conhecem o projeto inteiro.
- Se perguntarem a ferramenta de organização: GitHub para o código e o histórico. (Se usaram Trello ou outro quadro, falem aqui.)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Quatro camadas. Interface: HTML, CSS e JavaScript puros; o app é um PWA, que funciona no navegador e vira APK para Android.
- Servidor: PHP com PDO, respondendo em JSON. Usamos só GET e POST porque hospedagem compartilhada costuma bloquear PUT e DELETE.
- Banco: MySQL (funciona também em MariaDB). A estrutura está em scripts versionados, então qualquer integrante recria o banco.
- Leitora: ESP32 com Wi-Fi e o leitor MFRC522, programados em C++ na Arduino IDE.
- Por que: tudo roda na hospedagem que a escola já tem (cPanel), não precisa compilar nada para o site funcionar, e um app só atende web e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1 min.
- Siga as setas da esquerda para a direita: o cartão é lido pela leitora; a leitora manda o UID e o código da máquina para a API, junto com um token que identifica aquela leitora.
- A API aplica a regra consultando o banco e devolve "liberado" ou "bloqueado". A leitora só acende o LED; ela não decide nada.
- O app (administrador e funcionário) conversa com a mesma API, com login em sessão (cookie HttpOnly, que o JavaScript não consegue ler).
- Vantagem: a regra fica num lugar só. Se a capacitação vence hoje, amanhã o mesmo cartão já é bloqueado, sem mexer na leitora.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Oito tabelas em três grupos. Pessoas: usuarios (quem faz login) e operadores (quem opera; o UID do cartão fica aqui).
- Capacitações: treinamentos (com validade em meses), operador_treinamento (o que cada um concluiu e até quando vale) e maquina_treinamento (o que cada máquina exige). São as duas tabelas de ligação N:N.
- Máquinas: maquinas (com status: ativa, manutenção, bloqueada, inativa) e dispositivos (as leitoras).
- Tudo desemboca em acessos: cada tentativa, liberada ou bloqueada, com o motivo.
- Detalhes que mostram cuidado: ninguém é apagado (desativação lógica, para não perder histórico), matrícula/UID/código são únicos, e senha e token nunca ficam em texto.
- Se pedirem o diagrama completo: está no Workbench (Database &gt; Reverse Engineer).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1 min 10 s.
- Este é o coração do sistema (seção 4.7 do TCC, arquivo api/lib/regras.php).
- O servidor faz cinco perguntas, sempre nesta ordem: o cartão está cadastrado? o operador está ativo? a máquina está disponível? ele tem todas as capacitações que a máquina exige? elas estão dentro da validade?
- A primeira resposta "não" bloqueia e vira o motivo: CARTAO_DESCONHECIDO, OPERADOR_INATIVO, MAQUINA_INDISPONIVEL, TREINAMENTO_AUSENTE ou TREINAMENTO_VENCIDO. Se tudo for "sim": AUTORIZADO. São os 6 resultados possíveis.
- Exemplo: o Bruno (fictício) tem a NR-12 vencida, então na prensa ele é bloqueado com o motivo TREINAMENTO_VENCIDO.
- Por que a ordem importa: o motivo gravado precisa ser um só e sempre o mesmo para a mesma situação, senão o histórico perde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Três desafios reais que resolvemos:
  1) Hospedagens compartilhadas bloqueiam PUT e DELETE, então toda alteração usa POST e a ação vai na URL (?id= e &amp;acao=).
  2) O cartão não pode carregar a permissão, então ele só identifica e a decisão fica no servidor.
  3) Não sabíamos a versão do servidor da escola, então o código é compatível com PHP 7.4 e funciona em MariaDB e em MySQL. Já rodamos em MariaDB 10.11 e no MySQL 8.4 do SENAI.
- À direita, a regra de ouro: "na dúvida, bloqueia". Se cair a rede, o servidor ou o banco, nega. Cartão desconhecido, bloqueia. Se acabar a energia, a leitora volta bloqueada.
- Isso é segurança por padrão (fail-safe): o erro nunca libera 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40 s (se o tempo apertar, resuma em uma frase).
- Segurança não ficou para o final: senhas só como hash, conta travada depois de 5 erros, sessão em cookie que o JavaScript não lê, consultas preparadas (sem SQL injection) e cada leitora com um token próprio.
- LGPD: o site tem Política de Privacidade e Termos de Uso, e o histórico mostra o UID do cartão mascarado.
- Se perguntarem o que é hash: é uma "impressão digital" da senha; dá para conferir se a senha está certa, mas não dá para voltar à senha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 narra e Leonardo opera o app. Tempo: 3 min.
ANTES DE SEXTA: deixem o app aberto já logado como administrador (no cPanel, se já estiver publicado, ou no notebook com "php -S localhost:8080"). Testem a demo inteira pelo menos duas vezes.
Roteiro (entrada → processamento → resultado):
1. Mostre o Painel: tentativas do dia, liberadas, bloqueadas, vencimentos e o status das máquinas (a torrezinha de cada uma).
2. Vá em "Simular leitura", escolha o cartão do Bruno Teixeira e a máquina P-01, clique em "Aproximar cartão".
3. Explique: o servidor está fazendo as cinco perguntas da regra.
4. Resultado: bloqueado, motivo treinamento vencido (NR-12). Repita com a Ana Ribeiro na P-01: liberado.
5. Abra o Histórico: as duas tentativas aparecem com o motivo e a origem "simulador". A leitora ESP32 usa a mesma rota e a mesma regra.
Plano B: se a internet ou o servidor falharem, usem este slide e o próximo (prints reais do app) e o simulador da página do LockMachine.
Os nomes (Ana, Bruno, Carla, Diego) são dados fictícios do seed: digam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É o mesmo app; o que muda é o perfil. O funcionário entra com a matrícula e uma senha provisória que ele troca no primeiro acesso.
- Início: o crachá digital e o resumo (quantas capacitações válidas, vencendo, vencidas, quantas máquinas liberadas).
- Capacitações: cada treinamento com a data de validade e uma barra mostrando quanto falta para vencer.
- Máquinas: em quais ele pode operar e, se não pode, por quê.
- O app é um PWA: roda no navegador e, depois que o site estiver publicado com HTTPS, geramos o APK para Android pelo PWABuilder.
- Se der tempo, mostrem ao vivo no celular (entrem com OP-1042).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1 min.
- Sejam transparentes: os testes FORMAIS ainda não foram executados. Por isso o produto continua "MVP em desenvolvimento".
- O plano: CT são os casos de teste funcionais (um por requisito), TNF são os testes de falha (rede, servidor, banco, energia, cartão desconhecido) e cada resultado vira uma evidência EV-XX com data.
- O que já verificamos durante o desenvolvimento: as rotas da API, o login com troca de senha e bloqueio, os seis resultados da regra pelo simulador e o app no celular e no computador.
- A fazer: executar e registrar os testes, fazer as entrevistas de validação e testar na bancada com cartões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50 s.
- Resumo do andamento: dos 9 módulos, 6 estão implementados e funcionando juntos: site, simulador, banco, API, app do administrador e app do funcionário.
- Dois estão em preparação: o APK (depende de publicar o site com HTTPS) e a leitora (o firmware está escrito, falta montar a bancada e testar).
- Um está pendente: os testes formais com evidências.
- Evidências que já dá para mostrar: o site e o app funcionando (a demo que vocês viram) e o código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O que falta: montar e testar a bancada (o firmware está escrito, mas ainda não foi compilado), gerar o APK (precisa do site publicado com HTTPS), os testes formais e a validação com usuários.
- Limites do protótipo, sem medo de falar: é apoio administrativo, não certifica segurança, não substitui NR-12, proteções físicas nem intertravamentos, e o relé é de bancada, não liga numa máquina de verdade.
- Próximas etapas, em ordem: publicar no cPanel da escola (estamos nisso agora, com o professor), gerar o APK, montar a bancada, executar os testes, registrar as evidências e fechar a documentação para 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50 s.
- Retomando: o problema era a informação de capacitação espalhada e sem registro. A solução: o cartão identifica, o servidor decide e toda tentativa vira registro.
- Aprendizado: o texto do slide é uma sugestão. ANTES DE SEXTA, combinem entre vocês qual foi o principal aprendizado da equipe e falem com as suas palavras.
- Contribuição: um modelo didático de controle de acesso que pode ser usado em oficinas e laboratórios, como os do próprio SENAI.
- Feche com a frase do slide: "Sem capacitação válida, sem acesso."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20 s.
- Só mostre: normas (NR-12 e LGPD), as soluções de mercado que comparamos e a documentação das tecnologias.
- A lista completa, no padrão ABNT, está no documento do TCC.
- ANTES DE SEXTA: confira se estas referências batem com as do documento e acrescente as que faltarem.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agradece; todos respondem às perguntas.
- Agradeçam ao coordenador e aos professores Ricardo e Tom.
- Perguntas: quem responde é quem cuida daquela frente (banco: João; API e regra: Cauê; telas: Evelyn; documentação e testes: Gabriel; visão geral e cronograma: Leonardo). Mas todos devem saber responder o básico de qualquer parte.
- Perguntas prováveis: "e se a internet cair?" (na dúvida, bloqueia); "dá para burlar com outro cartão?" (o cartão só identifica, cada tentativa fica registrada com o UID); "quando fica pronto?" (próximas etapas do slide 18); "isso substitui a NR-12?" (não, é apoio administrativo).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Desktop/linkwave-lockmachine/assets/brand/linkwave-simbolo-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6355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LockMachine · Apresentação de andamento · TCC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capa-pren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AppData/Local/Temp/lockmachine/deck/slides-img/de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2011680" cy="6858000"/>
          </a:xfrm>
          <a:prstGeom prst="rect">
            <a:avLst/>
          </a:prstGeom>
        </p:spPr>
      </p:pic>
      <p:pic>
        <p:nvPicPr>
          <p:cNvPr id="4" name="Image 2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3291840" cy="48891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85800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Controle de acesso a máquinas por capacitação</a:t>
            </a:r>
            <a:endParaRPr lang="en-US" sz="34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Apresentação de andamento à coordenação · 30/10/2026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85800" y="3566160"/>
            <a:ext cx="2345253" cy="32918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MVP em desenvolvimento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 Rodrigues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 de Oliveira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 Escanavaque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 Monteiro Gamero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361188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CURSO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61188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Técnico em Desenvolvimento de Sistemas · Turma B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611880" y="5166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Ricardo Akira Harada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Wellinton Cardoso Teodoro (Tom)</a:t>
            </a:r>
            <a:endParaRPr lang="en-US" sz="1300" dirty="0"/>
          </a:p>
        </p:txBody>
      </p:sp>
      <p:pic>
        <p:nvPicPr>
          <p:cNvPr id="14" name="Image 3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1371600" cy="2633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40280" y="623620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SENAI Mococa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identifica. </a:t>
            </a:r>
            <a:pPr indent="0" marL="0">
              <a:buNone/>
            </a:pPr>
            <a:r>
              <a:rPr lang="en-US" sz="30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regra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LockMachine liga o cartão RFID do operador às capacitações registradas no banco de dados. Antes de liberar a máquina, o servidor confere se elas continuam válidas. Liberado ou bloqueado, todo resultado fica registrado com o motivo.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7" name="Image 0" descr="C:/Users/49816471825/AppData/Local/Temp/lockmachine/deck/icones/rfid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35698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6499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Aproxime o cartão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leitor MFRC522 lê o UID do cartão e o ESP32 envia o pedido de validação pela rede Wi-Fi.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78224" y="45720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4340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3429000"/>
            <a:ext cx="640080" cy="640080"/>
          </a:xfrm>
          <a:prstGeom prst="ellipse">
            <a:avLst/>
          </a:prstGeom>
          <a:solidFill>
            <a:srgbClr val="8C9BFF">
              <a:alpha val="16000"/>
            </a:srgbClr>
          </a:solidFill>
          <a:ln w="9525">
            <a:solidFill>
              <a:srgbClr val="8C9BFF">
                <a:alpha val="40000"/>
              </a:srgbClr>
            </a:solidFill>
            <a:prstDash val="solid"/>
          </a:ln>
        </p:spPr>
      </p:sp>
      <p:pic>
        <p:nvPicPr>
          <p:cNvPr id="14" name="Image 1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356981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5975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servidor confere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API em PHP verifica o cadastro, a máquina e se cada capacitação exigida continua dentro da validade.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872984" y="45720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13816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2480" y="3429000"/>
            <a:ext cx="640080" cy="64008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1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3569818"/>
            <a:ext cx="358445" cy="35844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5451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Libera ou bloqueia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resposta volta para a leitora e a tentativa entra no histórico com operador, máquina, horário, resultado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 identificado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Informação espalhada atrasa a decisão.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385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Para liberar uma máquina, o supervisor precisa juntar seis dados que hoje ficam em lugares diferentes.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 rot="-150000">
            <a:off x="548640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 DO OPERADOR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 planilha do RH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90000">
            <a:off x="2944368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 DO OPERADOR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numa gaveta da portaria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 rot="-72000">
            <a:off x="5340096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TREINAMENTO CONCLUÍDO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certificado impresso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20000">
            <a:off x="548640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DE VALIDADE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anotada à mão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-90000">
            <a:off x="2944368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MÁQUINA SOLICITADA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 pedido verbal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50000">
            <a:off x="5340096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 DO ACESSO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42A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registro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1371600"/>
            <a:ext cx="3639312" cy="4617720"/>
          </a:xfrm>
          <a:prstGeom prst="roundRect">
            <a:avLst>
              <a:gd name="adj" fmla="val 301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é afetado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2285" y="2104949"/>
            <a:ext cx="261518" cy="26151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05495" y="2188159"/>
            <a:ext cx="118872" cy="118872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Supervisor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confere tudo à mão antes de liberar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2285" y="2763317"/>
            <a:ext cx="261518" cy="261518"/>
          </a:xfrm>
          <a:prstGeom prst="ellipse">
            <a:avLst/>
          </a:prstGeom>
          <a:solidFill>
            <a:srgbClr val="8C9B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05495" y="2846527"/>
            <a:ext cx="118872" cy="118872"/>
          </a:xfrm>
          <a:prstGeom prst="ellipse">
            <a:avLst/>
          </a:prstGeom>
          <a:solidFill>
            <a:srgbClr val="8C9B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2715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Operador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depende de alguém achar o certificado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2285" y="3421685"/>
            <a:ext cx="261518" cy="261518"/>
          </a:xfrm>
          <a:prstGeom prst="ellipse">
            <a:avLst/>
          </a:prstGeom>
          <a:solidFill>
            <a:srgbClr val="FF3D2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05495" y="3504895"/>
            <a:ext cx="118872" cy="118872"/>
          </a:xfrm>
          <a:prstGeom prst="ellipse">
            <a:avLst/>
          </a:prstGeom>
          <a:solidFill>
            <a:srgbClr val="FF3D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0" y="337413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Escola ou empresa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fica sem histórico para auditoria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acontece hoje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544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Conferência manual, caso a caso. Quando alguém é barrado ou liberado, nada fica registrado.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Cenário descrito no TCC. Vamos confirmar com entrevistas (o roteiro está pronto).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Justificativa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Conferir a capacitação antes de cada uso não pode depender de memória e papel.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9152"/>
            <a:ext cx="566928" cy="566928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shield-FF7A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4838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NR-12 determina que só trabalhadores capacitados operem máquinas. O sistema confere isso antes de cada uso.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359152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history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4838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Rastreabilidade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tentativa fica registrada com operador, máquina, horário, resultado e motivo.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359152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check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204" y="24838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Padronização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mesma regra vale para todas as pessoas e máquinas, sem exceções esquecidas.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BENEFÍCIOS ESPERADOS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2" name="Image 3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51" y="5159411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Vencimentos visíveis antes de vencer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3484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5" name="Image 4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331" y="5159411"/>
            <a:ext cx="215067" cy="215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93776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Histórico pronto para auditoria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04672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8" name="Image 5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211" y="5159411"/>
            <a:ext cx="215067" cy="215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54964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Relevante para escolas técnicas e empresas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06578" y="5901538"/>
            <a:ext cx="221285" cy="221285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576986" y="5971946"/>
            <a:ext cx="100584" cy="100584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68680" y="58704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Apoio administrativo: o LockMachine não substitui a NR-12, a análise de risco, as proteções físicas nem os intertravamentos.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Desenvolver um protótipo que libere ou bloqueie o acesso a máquinas conferindo, no servidor, o cadastro do operador e a validade das capacitações exigidas, com registro de cada tentativa.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OBJETIVOS ESPECÍFICOS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18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186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Modelar o banco de dados relacional, com scripts versionados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74493" y="3310128"/>
            <a:ext cx="1355507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856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8561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Desenvolver a API em PHP com a regra de acesso e os motivos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74493" y="3877056"/>
            <a:ext cx="1355507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525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5254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Criar o app do administrador e do funcionário, na web e no Android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84747" y="4443984"/>
            <a:ext cx="2345253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pronta · APK a gerar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1947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Montar a leitora RFID com ESP32 e MFRC522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44578" y="5010912"/>
            <a:ext cx="1685422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Firmware escrito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864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4864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Testar com casos funcionais e de falha e registrar as evidências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04409" y="5577840"/>
            <a:ext cx="1025591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Pendente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Público-alvo e requisitos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perfis usam a solução. Cada necessidade levantada virou um requisito com critério de aceitação.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12848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users-8C9B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337572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Administrador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libera as máquinas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Cadastra funcionários, máquinas e treinamentos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Registra capacitações com validade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Acompanha painel, vencimentos e histórico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212848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user-22D07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33757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Funcionário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opera a máquina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Vê as próprias capacitações e quando vencem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Sabe em quais máquinas está liberado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 o histórico do próprio cartão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212848"/>
            <a:ext cx="566928" cy="566928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204" y="2337572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RFID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ESP32 instalado na máquina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Lê o UID do cartão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Pergunta ao servidor com um token próprio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Indica liberado ou bloqueado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8463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46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846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requisitos funcionais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34340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617720" y="48463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C9B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</a:t>
            </a:r>
            <a:endParaRPr lang="en-US" sz="46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4846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requisitos não funcionais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13816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12480" y="4846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Essenciais: </a:t>
            </a:r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login por perfil, capacitações com validade, validação RFID com motivo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Metodologia e planejamento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adaptado à escola: o PO cuida do backlog e dos critérios de aceitação, o Scrum Master acompanha o andamento e cada integrante assume entregas pequenas e revisáveis. O código fica versionado no GitHub.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17320" y="2395728"/>
            <a:ext cx="9354312" cy="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libera, quem opera e o que cada perfil faz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59582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19502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65222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funcionais e 7 não funcionais, com critério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0445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0365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Modelo de dados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36085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 tabelas, chaves estrangeiras e UNIQUE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01307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61227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Back-end e rotas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6947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API em PHP, sessão e respostas 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72170" y="2167128"/>
            <a:ext cx="457200" cy="45720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3209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Integração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7781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Telas, API e banco prontos; falta a leitora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43032" y="2167128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e evidências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948672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Casos escritos antes; nada sem evidência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" y="4059936"/>
            <a:ext cx="201168" cy="201168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" y="4123944"/>
            <a:ext cx="91440" cy="91440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12264" y="4059936"/>
            <a:ext cx="201168" cy="20116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176272" y="4123944"/>
            <a:ext cx="91440" cy="9144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4231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4059936"/>
            <a:ext cx="201168" cy="201168"/>
          </a:xfrm>
          <a:prstGeom prst="ellipse">
            <a:avLst/>
          </a:prstGeom>
          <a:solidFill>
            <a:srgbClr val="8B91A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76472" y="4123944"/>
            <a:ext cx="91440" cy="91440"/>
          </a:xfrm>
          <a:prstGeom prst="ellipse">
            <a:avLst/>
          </a:prstGeom>
          <a:solidFill>
            <a:srgbClr val="8B91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0233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fazer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709160"/>
            <a:ext cx="512064" cy="51206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Owner · Full-stack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98064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4709160"/>
            <a:ext cx="512064" cy="51206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999232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999232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Master · Back-end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47488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4709160"/>
            <a:ext cx="512064" cy="51206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248656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248656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96912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4709160"/>
            <a:ext cx="512064" cy="51206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JV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0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46336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47504" y="4709160"/>
            <a:ext cx="512064" cy="51206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GM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747504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747504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07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27632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1752356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HTML, CSS e JavaScript, sem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PWA: web e Android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GSAP e three.js no site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2249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8281" y="1627632"/>
            <a:ext cx="566928" cy="566928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0" name="Image 1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005" y="1752356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8281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18281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PHP 7.4+ com PDO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API em JSON, só GET e POST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Apache no cPanel, com HTTPS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5858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31890" y="1627632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5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614" y="175235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189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31890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MySQL ou MariaDB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schema.sql e seed.sql versionados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Workbench e phpMyAdmin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989466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45498" y="1627632"/>
            <a:ext cx="566928" cy="566928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0" name="Image 3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223" y="1752356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5498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(IoT)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45498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ESP32 com Wi-Fi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 MFRC522 (13,56 MHz)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C++ na Arduino IDE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956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QUE ESSAS ESCOLHAS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6" name="Image 4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51" y="5388011"/>
            <a:ext cx="215067" cy="215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Rodam na hospedagem da escola: PHP e MySQL no cPanel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43484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9" name="Image 5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31" y="5388011"/>
            <a:ext cx="215067" cy="21506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3776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etapa de build: abre direto no navegador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04672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32" name="Image 6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211" y="5388011"/>
            <a:ext cx="215067" cy="21506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54964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só app para web e Android; hardware barato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08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Arquitetura da solução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só identifica. A decisão fica no servidor, que nunca autoriza apenas pelo número do cartão.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-240000">
            <a:off x="548640" y="251460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 RFID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06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UID 04A1••••D4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95728" y="3035808"/>
            <a:ext cx="347472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88920" y="2240280"/>
            <a:ext cx="210312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468880"/>
            <a:ext cx="502920" cy="50292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8" name="Image 0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162" y="25795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0" y="2441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0815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ESP32 + MFRC522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LED, buzzer e relé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29400" y="224028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2468880"/>
            <a:ext cx="502920" cy="502920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3" name="Image 1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642" y="25795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0" y="2441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API em PHP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30815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regra de acesso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sessão e JSON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445752" y="2240280"/>
            <a:ext cx="219456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4352" y="2468880"/>
            <a:ext cx="502920" cy="50292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8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994" y="257952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14432" y="24414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MySQL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9674352" y="3081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com 8 tabelas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histórico de acessos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445752" y="443484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646920" y="461772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3" name="Image 3" descr="C:/Users/49816471825/AppData/Local/Temp/lockmachine/deck/icones/waves-FFD23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471830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46920" y="5166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simulador do app usa a mesma rota e a mesma regra da leitora.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629400" y="443484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858000" y="4663440"/>
            <a:ext cx="502920" cy="502920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27" name="Image 4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642" y="477408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498080" y="4636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PWA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0" y="5276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administrador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funcionário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937760" y="3035808"/>
            <a:ext cx="164592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1" name="Text 24"/>
          <p:cNvSpPr txBox="1"/>
          <p:nvPr/>
        </p:nvSpPr>
        <p:spPr>
          <a:xfrm>
            <a:off x="493776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UID + máquina, com token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93776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liberado ou bloqueado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961120" y="3035808"/>
            <a:ext cx="438912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772400" y="3886200"/>
            <a:ext cx="0" cy="50292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7882128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cookie HttpOnly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48640" y="443484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2296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volta da resposta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API devolve JSON para a leitora: verde libera, vermelho bloqueia. O histórico guarda operador, máquina, horário, resultado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09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Oito tabelas relacionais em MySQL, criadas por scripts versionados (schema.sql e seed.sql).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9B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PESSOAS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usuarios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logins de administrador e funcionário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operadores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opera; o UID do cartão fica aqui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8556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9724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CAPACITAÇÕES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3148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41164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treinamentos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tipos de treinamento e validade em meses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3148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41164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operador_treinamento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capacitações concluídas e validade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3148" y="365760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41164" y="36941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maquina_treinamento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que cada máquina exige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48472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0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MÁQUINAS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13064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maquinas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código, local e status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13064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dispositivos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leitoras RFID e seus tokens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58768" y="3154680"/>
            <a:ext cx="566928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763256" y="3154680"/>
            <a:ext cx="566928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94560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94476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94392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48006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919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166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acessos  </a:t>
            </a:r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tentativa, liberada ou bloqueada: operador, máquina, leitora, UID mascarado, resultado, motivo e horário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" y="5870448"/>
            <a:ext cx="201168" cy="201168"/>
          </a:xfrm>
          <a:prstGeom prst="ellipse">
            <a:avLst/>
          </a:prstGeom>
          <a:solidFill>
            <a:srgbClr val="8C9B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" y="5934456"/>
            <a:ext cx="91440" cy="91440"/>
          </a:xfrm>
          <a:prstGeom prst="ellipse">
            <a:avLst/>
          </a:prstGeom>
          <a:solidFill>
            <a:srgbClr val="8C9B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Desativação lógica preserva o histórico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61104" y="5870448"/>
            <a:ext cx="201168" cy="20116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25112" y="5934456"/>
            <a:ext cx="91440" cy="9144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UNIQUE em matrícula, UID e código da máquina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10144" y="5870448"/>
            <a:ext cx="201168" cy="201168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74152" y="5934456"/>
            <a:ext cx="91440" cy="91440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2104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Senhas e tokens guardados só como hash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10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Desenvolvimento: a regra de acesso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servidor confere nesta ordem. A primeira condição que falhar bloqueia e vira o motivo gravado no histórico.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829873" cy="310896"/>
          </a:xfrm>
          <a:prstGeom prst="roundRect">
            <a:avLst>
              <a:gd name="adj" fmla="val 50000"/>
            </a:avLst>
          </a:prstGeom>
          <a:solidFill>
            <a:srgbClr val="8B91A6">
              <a:alpha val="18000"/>
            </a:srgbClr>
          </a:solidFill>
          <a:ln w="9525">
            <a:solidFill>
              <a:srgbClr val="8B91A6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Leitura: UID do cartão + código da máquina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 cadastrado?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12848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8640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CARTAO_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DESCONHECIDO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37790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7518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Operador ativo?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01998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60750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37790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OPERADOR_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INATIVO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6941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6669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Máquina disponível?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91149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49901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326941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MAQUINA_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INDISPONIVEL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6091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5819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Tem as capacitações exigidas?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80299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39051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216091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TREINAMENTO_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AUSENTE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05242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14970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Estão dentro da validade?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69450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28202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105242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TREINAMENTO_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VENCIDO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94392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22D07B">
              <a:alpha val="18000"/>
            </a:srgbClr>
          </a:solidFill>
          <a:ln w="12700">
            <a:solidFill>
              <a:srgbClr val="22D07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Liberado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AUTORIZADO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 sim</a:t>
            </a:r>
            <a:pPr indent="0" marL="0">
              <a:buNone/>
            </a:pPr>
            <a:r>
              <a:rPr lang="en-US" sz="12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   ↓ não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3035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Exemplo (dados fictícios):  </a:t>
            </a:r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Bruno Teixeira na P-01  →  NR-12 vencida  →  </a:t>
            </a:r>
            <a:pPr indent="0" marL="0">
              <a:buNone/>
            </a:pPr>
            <a:r>
              <a:rPr lang="en-US" sz="14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Bloqueado · TREINAMENTO_VENCIDO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11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Desafios técnicos e soluções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DESAFIO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hospedagem da escola bloqueia PUT e DELETE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206654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1148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828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escrita usa POST, com ?id= e &amp;acao= na URL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DESAFIO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não pode decidir sozinho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362102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11480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383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UID só identifica; a regra e o histórico ficam no servidor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DESAFIO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Rodar em PHP 7.4 a 8.4, em MySQL ou MariaDB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517550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114800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937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Compatível com PHP 7.4; testado em MariaDB e no MySQL 8.4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371600"/>
            <a:ext cx="4142232" cy="4498848"/>
          </a:xfrm>
          <a:prstGeom prst="roundRect">
            <a:avLst>
              <a:gd name="adj" fmla="val 2649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 dúvida, bloqueia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011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uma resposta confiável do servidor, a máquina não libera.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indisponível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88604" y="2825496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3273552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Servidor fora do 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88604" y="3429000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877056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indisponível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88604" y="4032504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4480560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 desconhecido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58689" y="4636008"/>
            <a:ext cx="1025591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5084064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0" y="5157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Queda de energia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33900" y="5239512"/>
            <a:ext cx="1850380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Reinicia bloqueado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e LGPD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Proteções que já vêm configuradas na API e no servidor.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key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338669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Senhas protegidas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Guardadas só como hash (bcrypt), nunca em texto.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221992"/>
            <a:ext cx="530352" cy="530352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lock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09" y="233866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7608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Bloqueio de tentativas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 travada por 5 minutos após 5 senhas erradas e limite por rede.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221992"/>
            <a:ext cx="530352" cy="530352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shield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869" y="2338669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084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Sessão segura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Cookie HttpOnly e SameSite, com HTTPS e cabeçalhos CSP e HSTS.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33672"/>
            <a:ext cx="530352" cy="530352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21" name="Image 3" descr="C:/Users/49816471825/AppData/Local/Temp/lockmachine/deck/icones/db-8C9B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49" y="4350349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8132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protegido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Consultas preparadas com PDO, contra SQL injection.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33672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6" name="Image 4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09" y="4350349"/>
            <a:ext cx="296997" cy="29699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7608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autenticada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 ESP32 usa um token próprio; o banco guarda só o hash.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233672"/>
            <a:ext cx="530352" cy="530352"/>
          </a:xfrm>
          <a:prstGeom prst="ellipse">
            <a:avLst/>
          </a:prstGeom>
          <a:solidFill>
            <a:srgbClr val="8B91A6">
              <a:alpha val="16000"/>
            </a:srgbClr>
          </a:solidFill>
          <a:ln w="9525">
            <a:solidFill>
              <a:srgbClr val="8B91A6">
                <a:alpha val="40000"/>
              </a:srgbClr>
            </a:solidFill>
            <a:prstDash val="solid"/>
          </a:ln>
        </p:spPr>
      </p:sp>
      <p:pic>
        <p:nvPicPr>
          <p:cNvPr id="31" name="Image 5" descr="C:/Users/49816471825/AppData/Local/Temp/lockmachine/deck/icones/files-A6AC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869" y="4350349"/>
            <a:ext cx="296997" cy="29699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7084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LGPD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Política de Privacidade, Termos de Uso e UID mascarado no histórico.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Demonstração: painel do administrador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7315200" cy="4736592"/>
          </a:xfrm>
          <a:prstGeom prst="roundRect">
            <a:avLst>
              <a:gd name="adj" fmla="val 2703"/>
            </a:avLst>
          </a:prstGeom>
          <a:solidFill>
            <a:srgbClr val="1C212D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C:/Users/49816471825/AppData/Local/Temp/lockmachine/deck/slides-img/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46438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Roteiro da demonstração ao vivo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38160" y="1938528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9202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Entrar como administrador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2505456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487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Simular leitura: Bruno Teixeira na prensa P-01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072384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054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servidor confere a regra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3639312"/>
            <a:ext cx="365760" cy="365760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Resultado: bloqueado, NR-12 vencida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4206240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41879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Painel e histórico mostram a tentativa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489204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PLANO B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285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rede ou sem servidor: estes prints e o simulador do site, que não depende do banco.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Demonstração: app do funcionário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2179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C:/Users/49816471825/AppData/Local/Temp/lockmachine/deck/slides-img/cel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901389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Início: crachá e resumo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95351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1" descr="C:/Users/49816471825/AppData/Local/Temp/lockmachine/deck/slides-img/cel-capacitac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1901389" cy="4114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3464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Capacitações e validade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28523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2" descr="C:/Users/49816471825/AppData/Local/Temp/lockmachine/deck/slides-img/cel-maquin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1901389" cy="4114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636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Máquinas e o que falta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77240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mesmo app, outra visão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772400" y="20116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Entra com a matrícula e uma senha provisória, trocada no primeiro acesso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Vê quais capacitações estão válidas, vencendo ou vencidas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Sabe em quais máquinas está liberado antes de ir até elas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 o histórico do próprio cartão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772400" y="4937760"/>
            <a:ext cx="3867912" cy="1051560"/>
          </a:xfrm>
          <a:prstGeom prst="roundRect">
            <a:avLst>
              <a:gd name="adj" fmla="val 10435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73568" y="5166360"/>
            <a:ext cx="548640" cy="54864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3" descr="C:/Users/49816471825/AppData/Local/Temp/lockmachine/deck/icones/globe-22D07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9" y="52870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86800" y="50109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Funciona no navegador hoje; vira APK para Android depois da publicação com HTTPS.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15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e validação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 casos de teste foram escritos antes da execução. Nada vira "aprovado" sem uma evidência datada.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PLANO DE TESTES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70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4505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Casos de teste funcionais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por requisito, com o critério de aceitação.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TNF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6667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de falha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Rede, servidor, banco, energia e cartão desconhecido.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18304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0235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EV-XX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8828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Evidências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Capturas, consultas e fotos, identificadas e datadas.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330952" cy="2240280"/>
          </a:xfrm>
          <a:prstGeom prst="roundRect">
            <a:avLst>
              <a:gd name="adj" fmla="val 4898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9555" y="2201875"/>
            <a:ext cx="241402" cy="241402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76365" y="2278685"/>
            <a:ext cx="109728" cy="109728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130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Já verificado no desenvolvimento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060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Todas as rotas da API, testadas localmente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Login com troca obrigatória de senha e bloqueio após 5 erros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 6 resultados da regra, pelo simulador do app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nas duas interfaces, no celular e no computador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89120"/>
            <a:ext cx="5330952" cy="1700784"/>
          </a:xfrm>
          <a:prstGeom prst="roundRect">
            <a:avLst>
              <a:gd name="adj" fmla="val 6452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9555" y="4625035"/>
            <a:ext cx="241402" cy="241402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76365" y="4701845"/>
            <a:ext cx="109728" cy="10972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Ainda a fazer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029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Executar os casos CT e TNF e registrar as evidências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Entrevistas de validação com instrutores e técnicos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 na bancada, com cartões reais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16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até agora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37560" cy="4617720"/>
          </a:xfrm>
          <a:prstGeom prst="roundRect">
            <a:avLst>
              <a:gd name="adj" fmla="val 3288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22D0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pPr indent="0" marL="0">
              <a:buNone/>
            </a:pPr>
            <a:r>
              <a:rPr lang="en-US" sz="2800" b="1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de 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módulos implementados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Banco, API, login, cadastros, validação e app já funcionam juntos.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nome continua "MVP em desenvolvimento" até os testes e as evidências.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37160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 institucional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371600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e produto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12680" y="1453896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1892808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892808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Página e simulador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892808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Demonstração com dados fictícios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12680" y="1975104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414016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241401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MySQL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414016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 tabelas, scripts versionados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12680" y="249631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2935224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293522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API em PHP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935224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Login, cadastros, regra, histórico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12680" y="301752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3456432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43400" y="3456432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administrador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45643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Painel, cadastros e leitoras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12680" y="3538728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0" y="3977640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397764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funcionário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977640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Capacitações, máquinas, histórico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12680" y="4059936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0" y="4498848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4498848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APK Android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498848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Depende da publicação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12680" y="4581144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preparação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0" y="5020056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502005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ESP32 + MFRC522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5020056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Falta montar a bancada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12680" y="510235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Firmware escrito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0" y="5541264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43400" y="554126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e evidências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5541264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Executar CT e TNF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12680" y="562356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Pendente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17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Limitações e 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que ainda falta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9659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Bancada física: firmware escrito, ainda não compilado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APK: precisa do site publicado com HTTPS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formais e evidências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Validação com usuários reais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Limites do protótipo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4434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É apoio administrativo: não certifica que a operação é segura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Não substitui NR-12, proteções físicas nem intertravamentos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Relé de bancada, sem ligação a uma máquina real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Próximas etapas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0" cy="342900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10512"/>
            <a:ext cx="384048" cy="384048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764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Publicar no servidor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Site, API e banco no cPanel da escola, com HTTPS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862158" y="1847088"/>
            <a:ext cx="778154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4963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4505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Gerar o APK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Empacotar o app publicado pelo PWABuilder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1821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363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Montar a bancada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ESP32, MFRC522, relé e LEDs com o firmware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679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8221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Executar os testes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Casos funcionais e de falha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45537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5079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Registrar evidências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Capturas, consultas e fotos (EV-XX)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52395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93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Revisão e apresentação final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 final e demonstração à banca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18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Considerações finais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30352" cy="530352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x-FF7A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1762597"/>
            <a:ext cx="296997" cy="2969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Dados de capacitação espalhados e nenhuma tentativa registrada.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6382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1645920"/>
            <a:ext cx="530352" cy="530352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557" y="1762597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9B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identifica, o servidor decide e toda tentativa vira registro.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9846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1792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6520" y="1645920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7" name="Image 2" descr="C:/Users/49816471825/AppData/Local/Temp/lockmachine/deck/icones/users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97" y="1762597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APRENDIZADO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Começar pelo problema e por requisitos verificáveis, e integrar uma entrega pequena por vez.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310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5256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81160" y="1645920"/>
            <a:ext cx="530352" cy="530352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3" name="Image 3" descr="C:/Users/49816471825/AppData/Local/Temp/lockmachine/deck/icones/globe-22D07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837" y="1762597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116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0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CONTRIBUIÇÃO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28116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modelo didático de controle de acesso para oficinas e laboratórios.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capacitação </a:t>
            </a:r>
            <a:pPr indent="0" marL="0">
              <a:buNone/>
            </a:pPr>
            <a:r>
              <a:rPr lang="en-US" sz="38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válida</a:t>
            </a:r>
            <a:pPr indent="0" marL="0">
              <a:buNone/>
            </a:pPr>
            <a:r>
              <a:rPr lang="en-US" sz="3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sem acesso.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00200"/>
            <a:ext cx="457200" cy="45720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shield-22D0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NORMAS E LEIS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BRASIL. Ministério do Trabalho e Emprego. NR-12: Segurança no Trabalho em Máquinas e Equipamentos.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BRASIL. Lei nº 13.709, de 14 de agosto de 2018. Lei Geral de Proteção de Dados Pessoais (LGPD).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9432" y="160020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0" name="Image 1" descr="C:/Users/49816471825/AppData/Local/Temp/lockmachine/deck/icones/machine-FFD2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7007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8464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MERCADO COMPARADO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PILZ. Identification and Access Management (IAM). Página pública do fabricante.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ROCKWELL AUTOMATION. FactoryTalk Security. Página pública do fabricante.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FORTRESS SAFETY. amGardpro. Página pública do fabricante.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94192" y="160020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5" name="Image 2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7007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7940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TECNOLOGIAS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PHP. Manual oficial da linguagem (php.net).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ORACLE. MySQL 8.4 Reference Manual.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ESPRESSIF. ESP32: documentação técnica.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NXP. MFRC522: folha de dados do leitor RFID.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three.js e GSAP: documentação oficial.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Lista completa, no padrão ABNT, no documento do TCC.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fim-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AppData/Local/Temp/lockmachine/deck/slides-img/de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201168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85800" y="3246120"/>
            <a:ext cx="347472" cy="347472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LK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 Rodrigues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Owner · Full-stack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3703320"/>
            <a:ext cx="347472" cy="347472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703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 de Oliveira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Master · Back-end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4160520"/>
            <a:ext cx="347472" cy="347472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160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 Escanavaque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4617720"/>
            <a:ext cx="347472" cy="347472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JV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4617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 Monteiro Gamero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" y="5074920"/>
            <a:ext cx="347472" cy="347472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GM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5074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</a:t>
            </a:r>
            <a:endParaRPr lang="en-US" sz="1300" dirty="0"/>
          </a:p>
        </p:txBody>
      </p:sp>
      <p:pic>
        <p:nvPicPr>
          <p:cNvPr id="17" name="Image 2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89320"/>
            <a:ext cx="1463040" cy="280922"/>
          </a:xfrm>
          <a:prstGeom prst="rect">
            <a:avLst/>
          </a:prstGeom>
        </p:spPr>
      </p:pic>
      <p:pic>
        <p:nvPicPr>
          <p:cNvPr id="18" name="Image 3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6003036"/>
            <a:ext cx="1691640" cy="251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kWave Noite">
  <a:themeElements>
    <a:clrScheme name="LinkWave Noite">
      <a:dk1>
        <a:srgbClr val="06070A"/>
      </a:dk1>
      <a:lt1>
        <a:srgbClr val="ECEEF4"/>
      </a:lt1>
      <a:dk2>
        <a:srgbClr val="0F1219"/>
      </a:dk2>
      <a:lt2>
        <a:srgbClr val="A6ACC0"/>
      </a:lt2>
      <a:accent1>
        <a:srgbClr val="2F45FF"/>
      </a:accent1>
      <a:accent2>
        <a:srgbClr val="FF3D2E"/>
      </a:accent2>
      <a:accent3>
        <a:srgbClr val="FFD23F"/>
      </a:accent3>
      <a:accent4>
        <a:srgbClr val="22D07B"/>
      </a:accent4>
      <a:accent5>
        <a:srgbClr val="8C9BFF"/>
      </a:accent5>
      <a:accent6>
        <a:srgbClr val="8B91A6"/>
      </a:accent6>
      <a:hlink>
        <a:srgbClr val="8C9BFF"/>
      </a:hlink>
      <a:folHlink>
        <a:srgbClr val="A6ACC0"/>
      </a:folHlink>
    </a:clrScheme>
    <a:fontScheme name="LinkWave Noite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LinkWave · SENAI Mococa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LockMachine · Apresentação de andamento</dc:title>
  <dc:subject>PptxGenJS Presentation</dc:subject>
  <dc:creator>Equipe LinkWave</dc:creator>
  <cp:lastModifiedBy>Equipe LinkWave</cp:lastModifiedBy>
  <cp:revision>1</cp:revision>
  <dcterms:created xsi:type="dcterms:W3CDTF">2026-10-28T17:35:41Z</dcterms:created>
  <dcterms:modified xsi:type="dcterms:W3CDTF">2026-10-28T17:35:41Z</dcterms:modified>
</cp:coreProperties>
</file>